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8" r:id="rId7"/>
    <p:sldId id="261" r:id="rId8"/>
    <p:sldId id="262" r:id="rId9"/>
    <p:sldId id="272" r:id="rId10"/>
    <p:sldId id="274" r:id="rId11"/>
    <p:sldId id="275" r:id="rId12"/>
    <p:sldId id="277" r:id="rId13"/>
    <p:sldId id="276" r:id="rId14"/>
    <p:sldId id="270" r:id="rId15"/>
    <p:sldId id="267" r:id="rId16"/>
    <p:sldId id="266" r:id="rId17"/>
    <p:sldId id="268" r:id="rId18"/>
    <p:sldId id="269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A28377-F8A3-4355-A600-BD9387E2D3C6}" v="825" dt="2026-03-18T20:19:01.070"/>
    <p1510:client id="{E0FA1772-26F1-7CB2-2675-3464FFD8C05C}" v="455" dt="2026-03-18T18:08:59.3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4C3C3-8A26-4AD3-98CA-E3292E77F08E}" type="datetimeFigureOut">
              <a:t>18/03/2026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E4EC6-17DA-4F6A-8801-81E1C1DED312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1980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Dépôt GitHub du projet : https://github.com/uslo-75/Quantis
- Le dépôt contient les dossiers migrations, nginx, src et web, ainsi que Cargo.toml et des fichiers Docker Compose.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Page d’accueil du projet : https://raw.githubusercontent.com/uslo-75/Quantis/main/web/index.html
- La page d’accueil présente le suivi des consommations d’électricité et de gaz, le dashboard, ainsi que des modules de saisie rapide, dashboard et alertes.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Dépôt GitHub du projet : https://github.com/uslo-75/Quantis
- Le dépôt est structuré en dossiers distincts (web, src, migrations, nginx), ce qui appuie l’idée d’une architecture séparée et d’un travail organisé.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19F1B-759C-6B52-EB8E-B6B6E45FE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C4662A-7D4D-F580-67D5-6B22DF760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8BBC74-23A8-7DBD-3005-BA99A8E02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E0F87-0E91-B93E-5A90-FC100F23C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15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Dossier web du dépôt : https://github.com/uslo-75/Quantis/tree/main/web
- Les fichiers présents incluent notamment Register.html, add-data.html, dashboard.html, forgot-password.html, hist.html, index.html, login.html, profil.html et reset-password.html.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Page d’accueil : https://raw.githubusercontent.com/uslo-75/Quantis/main/web/index.html
- Dossier web : https://github.com/uslo-75/Quantis/tree/main/web
- Le dépôt contient les pages login.html, Register.html, forgot-password.html et reset-password.html.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BB042-0E32-6BF1-FF97-D1B96863D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995E70-3D8F-A95B-668B-46A5F4E6BC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D8FA14-88B6-9896-2724-D5A3A8898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Page d’accueil : https://raw.githubusercontent.com/uslo-75/Quantis/main/web/index.html
- Dossier web : https://github.com/uslo-75/Quantis/tree/main/web
- Le dépôt contient les pages login.html, Register.html, forgot-password.html et reset-password.html.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C0FC9-FD72-D49A-3AA9-CF755CD08B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5017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CB6FF-358A-AA7F-D910-92A7842C7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A49870-E4F4-74D2-B90C-304713B24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5C3831-0ABD-1EC1-0013-1D13C9DD3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Page d’accueil : https://raw.githubusercontent.com/uslo-75/Quantis/main/web/index.html
- Dossier web : https://github.com/uslo-75/Quantis/tree/main/web
- Le dépôt contient les pages login.html, Register.html, forgot-password.html et reset-password.html.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DA99B-B717-90DF-B424-C1235E75D9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57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919E8-969C-561B-BF16-36E159661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8CB6CB-3621-A71F-D98F-67D5AD16C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6412C5-D8E7-4741-14D5-92938B1EF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Page d’accueil : https://raw.githubusercontent.com/uslo-75/Quantis/main/web/index.html
- Dossier web : https://github.com/uslo-75/Quantis/tree/main/web
- Le dépôt contient les pages login.html, Register.html, forgot-password.html et reset-password.html.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7E8C7-1CE1-91D9-B5C4-B9B23E6BDB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131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33AE0-9062-2AF6-84F8-191AE1CC9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EE9CD-4E9A-6CA5-E80B-B12086678E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E7BD1-0B7E-DFC3-DEC8-C1088AAE0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Page d’accueil : https://raw.githubusercontent.com/uslo-75/Quantis/main/web/index.html
- Dossier web : https://github.com/uslo-75/Quantis/tree/main/web
- Le dépôt contient les pages login.html, Register.html, forgot-password.html et reset-password.html.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9BA38-5E68-049B-E6D8-4818EF5C5C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338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60687-C710-7451-17FB-A066CCE70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C70B0-B0AC-F15A-23ED-940257636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A00AE5-4ECF-8608-7A19-3E7CC2D69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Page d’accueil : https://raw.githubusercontent.com/uslo-75/Quantis/main/web/index.html
- Dossier web : https://github.com/uslo-75/Quantis/tree/main/web
- Le dépôt contient les pages login.html, Register.html, forgot-password.html et reset-password.html.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C31E5-8E56-A0C6-7D41-1AF4A99C9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662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3A8DA-7B8B-F1DF-9D96-4D75481C2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E71227-4540-2B57-6225-B02DD2C68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44EFF0-FD2F-31C1-C3B4-01AE8B0D6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AF70E-1785-3037-B381-28FA1951D6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701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Dépôt GitHub : https://github.com/uslo-75/Quantis
- Cargo.toml : https://raw.githubusercontent.com/uslo-75/Quantis/main/Cargo.toml
- Le dépôt est majoritairement composé de HTML, Rust, CSS et JavaScript, et Cargo.toml déclare notamment actix-web, sqlx, argon2, jsonwebtoken et lettre.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Dépôt GitHub : https://github.com/uslo-75/Quantis
- Dossier src : https://github.com/uslo-75/Quantis/tree/main/src
- Dossier nginx : https://github.com/uslo-75/Quantis/tree/main/nginx
- Fichier docker-compose-dev.yml : https://github.com/uslo-75/Quantis/blob/main/docker-compose-dev.yml
- Le dépôt contient les dossiers web, src, migrations et nginx ; le compose de développement inclut au moins postgres, mailpit, api et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Cargo.toml : https://raw.githubusercontent.com/uslo-75/Quantis/main/Cargo.toml
- Dossier migrations : https://github.com/uslo-75/Quantis/tree/main/migrations
- Les migrations visibles incluent 001_init.sql, 002_places.sql, 003_consumptions.sql, 004_energy_type.sql, 005_place_goals.sql, 006_consumptions_day_upsert.sql, 007_user_profile_alerts.sql, 008_alert_dispatches.sql et 009_password_reset_tokens.sql.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738360" y="182880"/>
            <a:ext cx="2103120" cy="2103120"/>
          </a:xfrm>
          <a:prstGeom prst="ellipse">
            <a:avLst/>
          </a:prstGeom>
          <a:solidFill>
            <a:srgbClr val="12304F">
              <a:alpha val="82000"/>
            </a:srgbClr>
          </a:solidFill>
          <a:ln w="12700">
            <a:solidFill>
              <a:srgbClr val="12304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281160" y="5394960"/>
            <a:ext cx="2148840" cy="1097280"/>
          </a:xfrm>
          <a:prstGeom prst="ellipse">
            <a:avLst/>
          </a:prstGeom>
          <a:solidFill>
            <a:srgbClr val="0C253E"/>
          </a:solidFill>
          <a:ln w="12700">
            <a:solidFill>
              <a:srgbClr val="0C253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561320" y="292608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17314E"/>
          </a:solidFill>
          <a:ln w="12700">
            <a:solidFill>
              <a:srgbClr val="1731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689336" y="3657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QUANTIS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804672" y="115254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FFFFF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Quantis – </a:t>
            </a:r>
            <a:r>
              <a:rPr lang="en-US" sz="3000" b="1" err="1">
                <a:solidFill>
                  <a:srgbClr val="FFFFF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Projet</a:t>
            </a:r>
            <a:r>
              <a:rPr lang="en-US" sz="3000" b="1">
                <a:solidFill>
                  <a:srgbClr val="FFFFF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 Web</a:t>
            </a:r>
            <a:endParaRPr lang="en-US" sz="3000"/>
          </a:p>
        </p:txBody>
      </p:sp>
      <p:sp>
        <p:nvSpPr>
          <p:cNvPr id="9" name="Text 7"/>
          <p:cNvSpPr/>
          <p:nvPr/>
        </p:nvSpPr>
        <p:spPr>
          <a:xfrm>
            <a:off x="804672" y="1755648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>
                <a:solidFill>
                  <a:srgbClr val="D7E3F0"/>
                </a:solidFill>
              </a:rPr>
              <a:t>Sommaire :</a:t>
            </a:r>
          </a:p>
        </p:txBody>
      </p:sp>
      <p:sp>
        <p:nvSpPr>
          <p:cNvPr id="10" name="Shape 8"/>
          <p:cNvSpPr/>
          <p:nvPr/>
        </p:nvSpPr>
        <p:spPr>
          <a:xfrm>
            <a:off x="805240" y="2697480"/>
            <a:ext cx="2394805" cy="478677"/>
          </a:xfrm>
          <a:prstGeom prst="roundRect">
            <a:avLst>
              <a:gd name="adj" fmla="val 25000"/>
            </a:avLst>
          </a:prstGeom>
          <a:solidFill>
            <a:srgbClr val="16344F"/>
          </a:solidFill>
          <a:ln w="12700">
            <a:solidFill>
              <a:srgbClr val="1634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284838" y="2876674"/>
            <a:ext cx="1435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Informations</a:t>
            </a:r>
          </a:p>
        </p:txBody>
      </p:sp>
      <p:sp>
        <p:nvSpPr>
          <p:cNvPr id="37" name="Text 35"/>
          <p:cNvSpPr/>
          <p:nvPr/>
        </p:nvSpPr>
        <p:spPr>
          <a:xfrm>
            <a:off x="841248" y="5577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200" b="1">
                <a:solidFill>
                  <a:srgbClr val="FFFFFF"/>
                </a:solidFill>
              </a:rPr>
              <a:t>Lalanne Romain · Guenon Hayden</a:t>
            </a:r>
            <a:endParaRPr lang="en-US" sz="1100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EE00FFA6-85C3-F0EA-A6F7-F37E05B7C90C}"/>
              </a:ext>
            </a:extLst>
          </p:cNvPr>
          <p:cNvSpPr/>
          <p:nvPr/>
        </p:nvSpPr>
        <p:spPr>
          <a:xfrm>
            <a:off x="805240" y="3521503"/>
            <a:ext cx="2394805" cy="478677"/>
          </a:xfrm>
          <a:prstGeom prst="roundRect">
            <a:avLst>
              <a:gd name="adj" fmla="val 25000"/>
            </a:avLst>
          </a:prstGeom>
          <a:solidFill>
            <a:srgbClr val="16344F"/>
          </a:solidFill>
          <a:ln w="12700">
            <a:solidFill>
              <a:srgbClr val="1634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F19CEFE4-2C68-3E97-6649-CEAEA9E5307B}"/>
              </a:ext>
            </a:extLst>
          </p:cNvPr>
          <p:cNvSpPr/>
          <p:nvPr/>
        </p:nvSpPr>
        <p:spPr>
          <a:xfrm>
            <a:off x="1284838" y="3700697"/>
            <a:ext cx="1435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Organisation</a:t>
            </a:r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492FB6D1-C45F-CEF9-986E-CFD81E4A4B1A}"/>
              </a:ext>
            </a:extLst>
          </p:cNvPr>
          <p:cNvSpPr/>
          <p:nvPr/>
        </p:nvSpPr>
        <p:spPr>
          <a:xfrm>
            <a:off x="787519" y="4301223"/>
            <a:ext cx="2394805" cy="478677"/>
          </a:xfrm>
          <a:prstGeom prst="roundRect">
            <a:avLst>
              <a:gd name="adj" fmla="val 25000"/>
            </a:avLst>
          </a:prstGeom>
          <a:solidFill>
            <a:srgbClr val="16344F"/>
          </a:solidFill>
          <a:ln w="12700">
            <a:solidFill>
              <a:srgbClr val="1634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573C4041-ACC4-E442-B601-D9FB19EA266B}"/>
              </a:ext>
            </a:extLst>
          </p:cNvPr>
          <p:cNvSpPr/>
          <p:nvPr/>
        </p:nvSpPr>
        <p:spPr>
          <a:xfrm>
            <a:off x="1267117" y="4480418"/>
            <a:ext cx="1435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Choix</a:t>
            </a:r>
          </a:p>
        </p:txBody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EDCFA70F-7FA9-B7C9-54B1-F3F689DD7043}"/>
              </a:ext>
            </a:extLst>
          </p:cNvPr>
          <p:cNvSpPr/>
          <p:nvPr/>
        </p:nvSpPr>
        <p:spPr>
          <a:xfrm>
            <a:off x="3693751" y="2679757"/>
            <a:ext cx="2394805" cy="478677"/>
          </a:xfrm>
          <a:prstGeom prst="roundRect">
            <a:avLst>
              <a:gd name="adj" fmla="val 25000"/>
            </a:avLst>
          </a:prstGeom>
          <a:solidFill>
            <a:srgbClr val="16344F"/>
          </a:solidFill>
          <a:ln w="12700">
            <a:solidFill>
              <a:srgbClr val="1634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8459AD1C-28FA-F101-94DD-781D3758C45E}"/>
              </a:ext>
            </a:extLst>
          </p:cNvPr>
          <p:cNvSpPr/>
          <p:nvPr/>
        </p:nvSpPr>
        <p:spPr>
          <a:xfrm>
            <a:off x="4173349" y="2858952"/>
            <a:ext cx="1435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Démarche</a:t>
            </a:r>
          </a:p>
        </p:txBody>
      </p:sp>
      <p:sp>
        <p:nvSpPr>
          <p:cNvPr id="41" name="Shape 8">
            <a:extLst>
              <a:ext uri="{FF2B5EF4-FFF2-40B4-BE49-F238E27FC236}">
                <a16:creationId xmlns:a16="http://schemas.microsoft.com/office/drawing/2014/main" id="{E0149F86-DD0F-EF90-F271-EE3BD13CA426}"/>
              </a:ext>
            </a:extLst>
          </p:cNvPr>
          <p:cNvSpPr/>
          <p:nvPr/>
        </p:nvSpPr>
        <p:spPr>
          <a:xfrm>
            <a:off x="3676030" y="3521501"/>
            <a:ext cx="2394805" cy="478677"/>
          </a:xfrm>
          <a:prstGeom prst="roundRect">
            <a:avLst>
              <a:gd name="adj" fmla="val 25000"/>
            </a:avLst>
          </a:prstGeom>
          <a:solidFill>
            <a:srgbClr val="16344F"/>
          </a:solidFill>
          <a:ln w="12700">
            <a:solidFill>
              <a:srgbClr val="1634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F8A4F0F2-72AC-0FAD-6EAB-A57D7806CD91}"/>
              </a:ext>
            </a:extLst>
          </p:cNvPr>
          <p:cNvSpPr/>
          <p:nvPr/>
        </p:nvSpPr>
        <p:spPr>
          <a:xfrm>
            <a:off x="4155628" y="3700696"/>
            <a:ext cx="1435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47" name="Shape 8">
            <a:extLst>
              <a:ext uri="{FF2B5EF4-FFF2-40B4-BE49-F238E27FC236}">
                <a16:creationId xmlns:a16="http://schemas.microsoft.com/office/drawing/2014/main" id="{A0DA8C28-E10C-6D55-17AC-DEC0E342C3ED}"/>
              </a:ext>
            </a:extLst>
          </p:cNvPr>
          <p:cNvSpPr/>
          <p:nvPr/>
        </p:nvSpPr>
        <p:spPr>
          <a:xfrm>
            <a:off x="3658309" y="4301222"/>
            <a:ext cx="2394805" cy="478677"/>
          </a:xfrm>
          <a:prstGeom prst="roundRect">
            <a:avLst>
              <a:gd name="adj" fmla="val 25000"/>
            </a:avLst>
          </a:prstGeom>
          <a:solidFill>
            <a:srgbClr val="16344F"/>
          </a:solidFill>
          <a:ln w="12700">
            <a:solidFill>
              <a:srgbClr val="1634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CFC9A8C6-7DF8-785A-71C7-68601D1BD60C}"/>
              </a:ext>
            </a:extLst>
          </p:cNvPr>
          <p:cNvSpPr/>
          <p:nvPr/>
        </p:nvSpPr>
        <p:spPr>
          <a:xfrm>
            <a:off x="4137907" y="4480416"/>
            <a:ext cx="1435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Explications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"/>
          <p:cNvSpPr/>
          <p:nvPr/>
        </p:nvSpPr>
        <p:spPr>
          <a:xfrm>
            <a:off x="914400" y="4645152"/>
            <a:ext cx="4251960" cy="932688"/>
          </a:xfrm>
          <a:prstGeom prst="roundRect">
            <a:avLst>
              <a:gd name="adj" fmla="val 7843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 du projet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658368" y="99669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>
                <a:solidFill>
                  <a:srgbClr val="475569"/>
                </a:solidFill>
                <a:latin typeface="Aptos"/>
              </a:rPr>
              <a:t>Présentation simple du cahier des charges.</a:t>
            </a:r>
            <a:endParaRPr lang="en-US" sz="1050">
              <a:solidFill>
                <a:srgbClr val="475569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1234440" cy="0"/>
          </a:xfrm>
          <a:prstGeom prst="line">
            <a:avLst/>
          </a:prstGeom>
          <a:noFill/>
          <a:ln w="2032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0" y="237744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6FFFB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89336" y="31089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QUANTIS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658368" y="1554480"/>
            <a:ext cx="48006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73" y="1847308"/>
            <a:ext cx="1573870" cy="476222"/>
          </a:xfrm>
          <a:prstGeom prst="roundRect">
            <a:avLst>
              <a:gd name="adj" fmla="val 25000"/>
            </a:avLst>
          </a:prstGeom>
          <a:solidFill>
            <a:srgbClr val="E6FFFB"/>
          </a:solidFill>
          <a:ln w="12700">
            <a:solidFill>
              <a:srgbClr val="E6FF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8760" y="2021485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F766E"/>
                </a:solidFill>
              </a:rPr>
              <a:t>Idée </a:t>
            </a:r>
            <a:r>
              <a:rPr lang="en-US" sz="1400" b="1" err="1">
                <a:solidFill>
                  <a:srgbClr val="0F766E"/>
                </a:solidFill>
              </a:rPr>
              <a:t>générale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914327" y="2532778"/>
            <a:ext cx="4133161" cy="307756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23520" indent="-223520">
              <a:buSzPct val="100000"/>
              <a:buChar char="•"/>
            </a:pPr>
            <a:endParaRPr lang="en-US" sz="1600">
              <a:solidFill>
                <a:srgbClr val="0F172A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223520" indent="-223520">
              <a:buSzPct val="100000"/>
              <a:buChar char="•"/>
            </a:pPr>
            <a:r>
              <a:rPr lang="en-US" sz="1600">
                <a:solidFill>
                  <a:srgbClr val="0F172A"/>
                </a:solidFill>
                <a:latin typeface="Aptos"/>
              </a:rPr>
              <a:t>Accueil</a:t>
            </a:r>
          </a:p>
          <a:p>
            <a:pPr marL="223520" indent="-223520">
              <a:buSzPct val="100000"/>
              <a:buChar char="•"/>
            </a:pPr>
            <a:endParaRPr lang="en-US" sz="1600" dirty="0">
              <a:solidFill>
                <a:srgbClr val="0F172A"/>
              </a:solidFill>
              <a:latin typeface="Aptos"/>
            </a:endParaRPr>
          </a:p>
          <a:p>
            <a:pPr marL="223520" indent="-223520">
              <a:buSzPct val="100000"/>
              <a:buChar char="•"/>
            </a:pPr>
            <a:r>
              <a:rPr lang="en-US" sz="1600">
                <a:solidFill>
                  <a:srgbClr val="0F172A"/>
                </a:solidFill>
                <a:latin typeface="Aptos"/>
              </a:rPr>
              <a:t>Dashboard</a:t>
            </a:r>
          </a:p>
          <a:p>
            <a:pPr marL="223520" indent="-223520">
              <a:buSzPct val="100000"/>
              <a:buChar char="•"/>
            </a:pPr>
            <a:endParaRPr lang="en-US" sz="1600" dirty="0">
              <a:solidFill>
                <a:srgbClr val="0F172A"/>
              </a:solidFill>
              <a:latin typeface="Aptos"/>
            </a:endParaRPr>
          </a:p>
          <a:p>
            <a:pPr marL="223520" indent="-223520">
              <a:buSzPct val="100000"/>
              <a:buChar char="•"/>
            </a:pPr>
            <a:r>
              <a:rPr lang="en-US" sz="1600" err="1">
                <a:solidFill>
                  <a:srgbClr val="0F172A"/>
                </a:solidFill>
                <a:latin typeface="Aptos"/>
              </a:rPr>
              <a:t>Historique</a:t>
            </a:r>
            <a:endParaRPr lang="en-US" sz="1600">
              <a:solidFill>
                <a:srgbClr val="0F172A"/>
              </a:solidFill>
              <a:latin typeface="Aptos"/>
            </a:endParaRPr>
          </a:p>
          <a:p>
            <a:pPr marL="223520" indent="-223520">
              <a:buSzPct val="100000"/>
              <a:buChar char="•"/>
            </a:pPr>
            <a:endParaRPr lang="en-US" sz="1600" dirty="0">
              <a:solidFill>
                <a:srgbClr val="0F172A"/>
              </a:solidFill>
              <a:latin typeface="Aptos"/>
            </a:endParaRPr>
          </a:p>
          <a:p>
            <a:pPr marL="223520" indent="-223520">
              <a:buSzPct val="100000"/>
              <a:buChar char="•"/>
            </a:pPr>
            <a:r>
              <a:rPr lang="en-US" sz="1600">
                <a:solidFill>
                  <a:srgbClr val="0F172A"/>
                </a:solidFill>
                <a:latin typeface="Aptos"/>
              </a:rPr>
              <a:t>Visualitation</a:t>
            </a:r>
          </a:p>
          <a:p>
            <a:pPr marL="223520" indent="-223520">
              <a:buSzPct val="100000"/>
              <a:buChar char="•"/>
            </a:pPr>
            <a:endParaRPr lang="en-US" sz="1600" dirty="0">
              <a:solidFill>
                <a:srgbClr val="0F172A"/>
              </a:solidFill>
              <a:latin typeface="Aptos"/>
            </a:endParaRPr>
          </a:p>
          <a:p>
            <a:pPr marL="223520" indent="-223520">
              <a:buSzPct val="100000"/>
              <a:buChar char="•"/>
            </a:pPr>
            <a:r>
              <a:rPr lang="en-US" sz="1600">
                <a:solidFill>
                  <a:srgbClr val="0F172A"/>
                </a:solidFill>
                <a:latin typeface="Aptos"/>
              </a:rPr>
              <a:t>Gestions</a:t>
            </a:r>
          </a:p>
        </p:txBody>
      </p:sp>
      <p:sp>
        <p:nvSpPr>
          <p:cNvPr id="26" name="Text 24"/>
          <p:cNvSpPr/>
          <p:nvPr/>
        </p:nvSpPr>
        <p:spPr>
          <a:xfrm>
            <a:off x="11521440" y="655624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1</a:t>
            </a:r>
            <a:endParaRPr lang="en-US" sz="900"/>
          </a:p>
        </p:txBody>
      </p:sp>
      <p:pic>
        <p:nvPicPr>
          <p:cNvPr id="16" name="Image 15" descr="Images de Objectif du projet – Téléchargement gratuit sur Freepik">
            <a:extLst>
              <a:ext uri="{FF2B5EF4-FFF2-40B4-BE49-F238E27FC236}">
                <a16:creationId xmlns:a16="http://schemas.microsoft.com/office/drawing/2014/main" id="{7D19A04F-0AE2-A085-7DA8-8896046A5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748" y="1765004"/>
            <a:ext cx="4010246" cy="3974805"/>
          </a:xfrm>
          <a:prstGeom prst="rect">
            <a:avLst/>
          </a:prstGeom>
        </p:spPr>
      </p:pic>
      <p:sp>
        <p:nvSpPr>
          <p:cNvPr id="17" name="Shape 15"/>
          <p:cNvSpPr/>
          <p:nvPr/>
        </p:nvSpPr>
        <p:spPr>
          <a:xfrm>
            <a:off x="6795976" y="1766377"/>
            <a:ext cx="4016628" cy="3978145"/>
          </a:xfrm>
          <a:prstGeom prst="flowChartProcess">
            <a:avLst/>
          </a:prstGeom>
          <a:solidFill>
            <a:srgbClr val="FFFFFF">
              <a:alpha val="0"/>
            </a:srgbClr>
          </a:solidFill>
          <a:ln w="19050">
            <a:solidFill>
              <a:srgbClr val="14B8A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988" y="-110169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61320" y="292608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17314E"/>
          </a:solidFill>
          <a:ln w="12700">
            <a:solidFill>
              <a:srgbClr val="1731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89336" y="3657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QUANTIS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3348192" y="2542953"/>
            <a:ext cx="5660774" cy="859677"/>
          </a:xfrm>
          <a:prstGeom prst="roundRect">
            <a:avLst>
              <a:gd name="adj" fmla="val 25000"/>
            </a:avLst>
          </a:prstGeom>
          <a:solidFill>
            <a:srgbClr val="14324C"/>
          </a:solidFill>
          <a:ln w="12700">
            <a:solidFill>
              <a:srgbClr val="143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27745" y="2908217"/>
            <a:ext cx="1892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PARTIE 1</a:t>
            </a:r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2603914" y="3407778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Démarche de creation</a:t>
            </a:r>
            <a:endParaRPr lang="en-US" sz="28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521440" y="655624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2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2"/>
          <p:cNvSpPr/>
          <p:nvPr/>
        </p:nvSpPr>
        <p:spPr>
          <a:xfrm>
            <a:off x="896112" y="5166360"/>
            <a:ext cx="5989320" cy="530352"/>
          </a:xfrm>
          <a:prstGeom prst="roundRect">
            <a:avLst>
              <a:gd name="adj" fmla="val 13793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Démarche de création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658368" y="99669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Logique du projet.</a:t>
            </a:r>
            <a:endParaRPr lang="en-US" sz="1050">
              <a:latin typeface="Apto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1234440" cy="0"/>
          </a:xfrm>
          <a:prstGeom prst="line">
            <a:avLst/>
          </a:prstGeom>
          <a:noFill/>
          <a:ln w="2032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0" y="237744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6FFFB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89336" y="31089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QUANTIS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658368" y="1572768"/>
            <a:ext cx="6537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883664"/>
            <a:ext cx="384048" cy="384048"/>
          </a:xfrm>
          <a:prstGeom prst="ellipse">
            <a:avLst/>
          </a:prstGeom>
          <a:solidFill>
            <a:srgbClr val="38BDF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1984248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1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1463040" y="189280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</a:rPr>
              <a:t>Idées sur papier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3520440" y="1901952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75569"/>
                </a:solidFill>
              </a:rPr>
              <a:t>Croquis et recherche visuelle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1106424" y="2276856"/>
            <a:ext cx="0" cy="347472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633472"/>
            <a:ext cx="384048" cy="384048"/>
          </a:xfrm>
          <a:prstGeom prst="ellipse">
            <a:avLst/>
          </a:prstGeom>
          <a:solidFill>
            <a:srgbClr val="38BDF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" y="2734056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2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1463040" y="26426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</a:rPr>
              <a:t>Front-end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3520440" y="2651760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75569"/>
                </a:solidFill>
              </a:rPr>
              <a:t>HTML / CSS / JavaScript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1106424" y="3026664"/>
            <a:ext cx="0" cy="347472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383280"/>
            <a:ext cx="384048" cy="384048"/>
          </a:xfrm>
          <a:prstGeom prst="ellipse">
            <a:avLst/>
          </a:prstGeom>
          <a:solidFill>
            <a:srgbClr val="14B8A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" y="348386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3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1463040" y="339242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</a:rPr>
              <a:t>API + BDD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3520440" y="340156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475569"/>
                </a:solidFill>
              </a:rPr>
              <a:t>Rust / </a:t>
            </a:r>
            <a:r>
              <a:rPr lang="en-US" sz="1200" err="1">
                <a:solidFill>
                  <a:srgbClr val="475569"/>
                </a:solidFill>
              </a:rPr>
              <a:t>Sql</a:t>
            </a:r>
            <a:r>
              <a:rPr lang="en-US" sz="1200">
                <a:solidFill>
                  <a:srgbClr val="475569"/>
                </a:solidFill>
              </a:rPr>
              <a:t> / Docker</a:t>
            </a:r>
          </a:p>
        </p:txBody>
      </p:sp>
      <p:sp>
        <p:nvSpPr>
          <p:cNvPr id="24" name="Shape 22"/>
          <p:cNvSpPr/>
          <p:nvPr/>
        </p:nvSpPr>
        <p:spPr>
          <a:xfrm>
            <a:off x="1106424" y="3776472"/>
            <a:ext cx="0" cy="347472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4133088"/>
            <a:ext cx="384048" cy="384048"/>
          </a:xfrm>
          <a:prstGeom prst="ellipse">
            <a:avLst/>
          </a:prstGeom>
          <a:solidFill>
            <a:srgbClr val="84CC1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4984" y="4233672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4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1463040" y="414223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</a:rPr>
              <a:t>Intégration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3520440" y="4151376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75569"/>
                </a:solidFill>
              </a:rPr>
              <a:t>Connexion front / back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1106424" y="4526280"/>
            <a:ext cx="0" cy="347472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4882896"/>
            <a:ext cx="384048" cy="384048"/>
          </a:xfrm>
          <a:prstGeom prst="ellipse">
            <a:avLst/>
          </a:prstGeom>
          <a:solidFill>
            <a:srgbClr val="F59E0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984" y="498348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5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1463040" y="489204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</a:rPr>
              <a:t>Tests + patchs</a:t>
            </a:r>
            <a:endParaRPr lang="en-US" sz="1500"/>
          </a:p>
        </p:txBody>
      </p:sp>
      <p:sp>
        <p:nvSpPr>
          <p:cNvPr id="33" name="Text 31"/>
          <p:cNvSpPr/>
          <p:nvPr/>
        </p:nvSpPr>
        <p:spPr>
          <a:xfrm>
            <a:off x="3520440" y="490118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75569"/>
                </a:solidFill>
              </a:rPr>
              <a:t>Liste des corrections à faire</a:t>
            </a:r>
            <a:endParaRPr lang="en-US" sz="1200"/>
          </a:p>
        </p:txBody>
      </p:sp>
      <p:sp>
        <p:nvSpPr>
          <p:cNvPr id="37" name="Text 35"/>
          <p:cNvSpPr/>
          <p:nvPr/>
        </p:nvSpPr>
        <p:spPr>
          <a:xfrm>
            <a:off x="7589520" y="277977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4B8A6"/>
                </a:solidFill>
              </a:rPr>
              <a:t>Photos des croquis papier</a:t>
            </a:r>
            <a:endParaRPr lang="en-US" sz="1600"/>
          </a:p>
        </p:txBody>
      </p:sp>
      <p:sp>
        <p:nvSpPr>
          <p:cNvPr id="38" name="Text 36"/>
          <p:cNvSpPr/>
          <p:nvPr/>
        </p:nvSpPr>
        <p:spPr>
          <a:xfrm>
            <a:off x="7589520" y="300837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475569"/>
                </a:solidFill>
              </a:rPr>
              <a:t>Ajoutez votre capture ensuite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7406640" y="4572000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FFFFFF">
              <a:alpha val="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0" y="51023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4B8A6"/>
                </a:solidFill>
              </a:rPr>
              <a:t>Transition vers le front-end</a:t>
            </a:r>
            <a:endParaRPr lang="en-US" sz="1600"/>
          </a:p>
        </p:txBody>
      </p:sp>
      <p:sp>
        <p:nvSpPr>
          <p:cNvPr id="41" name="Text 39"/>
          <p:cNvSpPr/>
          <p:nvPr/>
        </p:nvSpPr>
        <p:spPr>
          <a:xfrm>
            <a:off x="7589520" y="53309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i="1">
                <a:solidFill>
                  <a:srgbClr val="475569"/>
                </a:solidFill>
              </a:rPr>
              <a:t>Premier croquis de la page d'accueil</a:t>
            </a:r>
            <a:endParaRPr lang="en-US" sz="950"/>
          </a:p>
        </p:txBody>
      </p:sp>
      <p:sp>
        <p:nvSpPr>
          <p:cNvPr id="42" name="Text 40"/>
          <p:cNvSpPr/>
          <p:nvPr/>
        </p:nvSpPr>
        <p:spPr>
          <a:xfrm>
            <a:off x="11521440" y="655624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3</a:t>
            </a:r>
            <a:endParaRPr lang="en-US" sz="900"/>
          </a:p>
        </p:txBody>
      </p:sp>
      <p:pic>
        <p:nvPicPr>
          <p:cNvPr id="35" name="Image 34" descr="Une image contenant texte, dessin, croquis, écriture manuscrite&#10;&#10;Le contenu généré par l’IA peut être incorrect.">
            <a:extLst>
              <a:ext uri="{FF2B5EF4-FFF2-40B4-BE49-F238E27FC236}">
                <a16:creationId xmlns:a16="http://schemas.microsoft.com/office/drawing/2014/main" id="{01BC4116-D3CE-112B-09B0-7760268B1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8048258" y="1036674"/>
            <a:ext cx="2856018" cy="3942908"/>
          </a:xfrm>
          <a:prstGeom prst="rect">
            <a:avLst/>
          </a:prstGeom>
        </p:spPr>
      </p:pic>
      <p:sp>
        <p:nvSpPr>
          <p:cNvPr id="36" name="Shape 34"/>
          <p:cNvSpPr/>
          <p:nvPr/>
        </p:nvSpPr>
        <p:spPr>
          <a:xfrm>
            <a:off x="7504105" y="1572768"/>
            <a:ext cx="3946452" cy="2870081"/>
          </a:xfrm>
          <a:prstGeom prst="flowChartProcess">
            <a:avLst/>
          </a:prstGeom>
          <a:solidFill>
            <a:srgbClr val="FFFFFF">
              <a:alpha val="0"/>
            </a:srgbClr>
          </a:solidFill>
          <a:ln w="19050">
            <a:solidFill>
              <a:srgbClr val="14B8A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Organisation du travail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658368" y="99669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Répartition des rôles &amp; méthode de collaboration.</a:t>
            </a:r>
            <a:endParaRPr lang="en-US" sz="1050">
              <a:latin typeface="Apto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1234440" cy="0"/>
          </a:xfrm>
          <a:prstGeom prst="line">
            <a:avLst/>
          </a:prstGeom>
          <a:noFill/>
          <a:ln w="2032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0" y="237744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6FFFB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89336" y="31089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QUANTIS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4592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0" y="164592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77824" y="1847088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911096"/>
            <a:ext cx="1161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0E7490"/>
                </a:solidFill>
              </a:rPr>
              <a:t>Front-end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877824" y="22860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172A"/>
                </a:solidFill>
              </a:rPr>
              <a:t>Romain</a:t>
            </a:r>
          </a:p>
        </p:txBody>
      </p:sp>
      <p:sp>
        <p:nvSpPr>
          <p:cNvPr id="15" name="Shape 13"/>
          <p:cNvSpPr/>
          <p:nvPr/>
        </p:nvSpPr>
        <p:spPr>
          <a:xfrm>
            <a:off x="4535424" y="1847088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E6FFFB"/>
          </a:solidFill>
          <a:ln w="12700">
            <a:solidFill>
              <a:srgbClr val="E6FF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911096"/>
            <a:ext cx="1161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0F766E"/>
                </a:solidFill>
              </a:rPr>
              <a:t>API / BDD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4535424" y="22860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172A"/>
                </a:solidFill>
              </a:rPr>
              <a:t>Hayden</a:t>
            </a:r>
            <a:endParaRPr lang="en-US" sz="1700"/>
          </a:p>
        </p:txBody>
      </p:sp>
      <p:sp>
        <p:nvSpPr>
          <p:cNvPr id="18" name="Shape 16"/>
          <p:cNvSpPr/>
          <p:nvPr/>
        </p:nvSpPr>
        <p:spPr>
          <a:xfrm>
            <a:off x="8193024" y="1847088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ECFCCB"/>
          </a:solidFill>
          <a:ln w="12700">
            <a:solidFill>
              <a:srgbClr val="ECFC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911096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4D7C0F"/>
                </a:solidFill>
              </a:rPr>
              <a:t>Intégration finale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8193024" y="22860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172A"/>
                </a:solidFill>
              </a:rPr>
              <a:t>Travail en commun</a:t>
            </a:r>
            <a:endParaRPr lang="en-US" sz="1700"/>
          </a:p>
        </p:txBody>
      </p:sp>
      <p:sp>
        <p:nvSpPr>
          <p:cNvPr id="21" name="Text 19"/>
          <p:cNvSpPr/>
          <p:nvPr/>
        </p:nvSpPr>
        <p:spPr>
          <a:xfrm>
            <a:off x="896112" y="2697480"/>
            <a:ext cx="292608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98374" indent="-198374">
              <a:buSzPct val="100000"/>
              <a:buChar char="•"/>
            </a:pPr>
            <a:r>
              <a:rPr lang="en-US" sz="142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idées de design</a:t>
            </a:r>
            <a:endParaRPr lang="en-US" sz="1420"/>
          </a:p>
          <a:p>
            <a:pPr marL="198374" indent="-198374">
              <a:buSzPct val="100000"/>
              <a:buChar char="•"/>
            </a:pPr>
            <a:r>
              <a:rPr lang="en-US" sz="142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maquettes papier</a:t>
            </a:r>
            <a:endParaRPr lang="en-US" sz="1420"/>
          </a:p>
          <a:p>
            <a:pPr marL="198374" indent="-198374">
              <a:buSzPct val="100000"/>
              <a:buChar char="•"/>
            </a:pPr>
            <a:r>
              <a:rPr lang="en-US" sz="142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/ CSS / JavaScript</a:t>
            </a:r>
            <a:endParaRPr lang="en-US" sz="1420"/>
          </a:p>
        </p:txBody>
      </p:sp>
      <p:sp>
        <p:nvSpPr>
          <p:cNvPr id="22" name="Text 20"/>
          <p:cNvSpPr/>
          <p:nvPr/>
        </p:nvSpPr>
        <p:spPr>
          <a:xfrm>
            <a:off x="4553712" y="2697480"/>
            <a:ext cx="292608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98374" indent="-198374">
              <a:buSzPct val="100000"/>
              <a:buChar char="•"/>
            </a:pPr>
            <a:r>
              <a:rPr lang="en-US" sz="142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en Rust</a:t>
            </a:r>
            <a:endParaRPr lang="en-US" sz="1420"/>
          </a:p>
          <a:p>
            <a:pPr marL="198374" indent="-198374">
              <a:buSzPct val="100000"/>
              <a:buChar char="•"/>
            </a:pPr>
            <a:r>
              <a:rPr lang="en-US" sz="142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données PostgreSQL</a:t>
            </a:r>
            <a:endParaRPr lang="en-US" sz="1420"/>
          </a:p>
          <a:p>
            <a:pPr marL="198374" indent="-198374">
              <a:buSzPct val="100000"/>
              <a:buChar char="•"/>
            </a:pPr>
            <a:r>
              <a:rPr lang="en-US" sz="142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 logique des données</a:t>
            </a:r>
            <a:endParaRPr lang="en-US" sz="1420"/>
          </a:p>
        </p:txBody>
      </p:sp>
      <p:sp>
        <p:nvSpPr>
          <p:cNvPr id="23" name="Text 21"/>
          <p:cNvSpPr/>
          <p:nvPr/>
        </p:nvSpPr>
        <p:spPr>
          <a:xfrm>
            <a:off x="8211312" y="2697480"/>
            <a:ext cx="292608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98374" indent="-198374">
              <a:buSzPct val="100000"/>
              <a:buChar char="•"/>
            </a:pPr>
            <a:r>
              <a:rPr lang="en-US" sz="142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connexion front / back</a:t>
            </a:r>
            <a:endParaRPr lang="en-US" sz="1420"/>
          </a:p>
          <a:p>
            <a:pPr marL="198374" indent="-198374">
              <a:buSzPct val="100000"/>
              <a:buChar char="•"/>
            </a:pPr>
            <a:r>
              <a:rPr lang="en-US" sz="142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1420"/>
          </a:p>
          <a:p>
            <a:pPr marL="198374" indent="-198374">
              <a:buSzPct val="100000"/>
              <a:buChar char="•"/>
            </a:pPr>
            <a:r>
              <a:rPr lang="en-US" sz="142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correctifs et patchs</a:t>
            </a:r>
            <a:endParaRPr lang="en-US" sz="1420"/>
          </a:p>
        </p:txBody>
      </p:sp>
      <p:sp>
        <p:nvSpPr>
          <p:cNvPr id="24" name="Shape 22"/>
          <p:cNvSpPr/>
          <p:nvPr/>
        </p:nvSpPr>
        <p:spPr>
          <a:xfrm>
            <a:off x="731520" y="4754880"/>
            <a:ext cx="10753060" cy="85804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5080945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</a:rPr>
              <a:t>Outils d’organisation</a:t>
            </a:r>
            <a:endParaRPr lang="en-US" sz="1500"/>
          </a:p>
        </p:txBody>
      </p:sp>
      <p:sp>
        <p:nvSpPr>
          <p:cNvPr id="26" name="Shape 24"/>
          <p:cNvSpPr/>
          <p:nvPr/>
        </p:nvSpPr>
        <p:spPr>
          <a:xfrm>
            <a:off x="2743200" y="4956048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52928" y="510235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475569"/>
                </a:solidFill>
              </a:rPr>
              <a:t>GitHub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4709160" y="4956048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510235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475569"/>
                </a:solidFill>
              </a:rPr>
              <a:t>Architecture propre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6675120" y="4956048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84848" y="510235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475569"/>
                </a:solidFill>
              </a:rPr>
              <a:t>Travail en parallèle</a:t>
            </a:r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8641080" y="4956048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50808" y="510235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475569"/>
                </a:solidFill>
              </a:rPr>
              <a:t>Pas d’écrasement du code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11521440" y="655624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4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9A5A6E-B0C5-DF36-B763-80620A1EA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362240-B85B-44B4-E56B-DD1BA49FF7B0}"/>
              </a:ext>
            </a:extLst>
          </p:cNvPr>
          <p:cNvSpPr/>
          <p:nvPr/>
        </p:nvSpPr>
        <p:spPr>
          <a:xfrm>
            <a:off x="100988" y="-110169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AA93389-9A53-27C9-82E5-934FDA11AF1E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A106B41-6ECF-BA8B-A194-0F67F6A7123C}"/>
              </a:ext>
            </a:extLst>
          </p:cNvPr>
          <p:cNvSpPr/>
          <p:nvPr/>
        </p:nvSpPr>
        <p:spPr>
          <a:xfrm>
            <a:off x="10561320" y="292608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17314E"/>
          </a:solidFill>
          <a:ln w="12700">
            <a:solidFill>
              <a:srgbClr val="17314E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C3D8106-88FF-8589-1A42-C9C2A85FC4B7}"/>
              </a:ext>
            </a:extLst>
          </p:cNvPr>
          <p:cNvSpPr/>
          <p:nvPr/>
        </p:nvSpPr>
        <p:spPr>
          <a:xfrm>
            <a:off x="10689336" y="3657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QUANTIS</a:t>
            </a:r>
            <a:endParaRPr lang="en-US" sz="10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F79F5C6-7A90-5FAD-FC34-FE10C578E074}"/>
              </a:ext>
            </a:extLst>
          </p:cNvPr>
          <p:cNvSpPr/>
          <p:nvPr/>
        </p:nvSpPr>
        <p:spPr>
          <a:xfrm>
            <a:off x="3348192" y="2542953"/>
            <a:ext cx="5660774" cy="859677"/>
          </a:xfrm>
          <a:prstGeom prst="roundRect">
            <a:avLst>
              <a:gd name="adj" fmla="val 25000"/>
            </a:avLst>
          </a:prstGeom>
          <a:solidFill>
            <a:srgbClr val="14324C"/>
          </a:solidFill>
          <a:ln w="12700">
            <a:solidFill>
              <a:srgbClr val="14324C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C4A67A8-30A4-68B5-A9E3-DBC054ADE517}"/>
              </a:ext>
            </a:extLst>
          </p:cNvPr>
          <p:cNvSpPr/>
          <p:nvPr/>
        </p:nvSpPr>
        <p:spPr>
          <a:xfrm>
            <a:off x="5227745" y="2908217"/>
            <a:ext cx="1892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PARTIE 2</a:t>
            </a:r>
            <a:endParaRPr lang="en-US" sz="3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CE63D5F-B199-33C1-5D78-EE7B5B02A674}"/>
              </a:ext>
            </a:extLst>
          </p:cNvPr>
          <p:cNvSpPr/>
          <p:nvPr/>
        </p:nvSpPr>
        <p:spPr>
          <a:xfrm>
            <a:off x="2603914" y="3407778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Aptos Display"/>
              </a:rPr>
              <a:t>Presentation</a:t>
            </a:r>
            <a:endParaRPr lang="en-US" sz="28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3C7E02B-4198-913B-439E-3F71AA80191C}"/>
              </a:ext>
            </a:extLst>
          </p:cNvPr>
          <p:cNvSpPr/>
          <p:nvPr/>
        </p:nvSpPr>
        <p:spPr>
          <a:xfrm>
            <a:off x="11521440" y="655624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2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209808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pages du site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658368" y="99669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Vue d’ensemble des pages du site.</a:t>
            </a:r>
            <a:endParaRPr lang="en-US" sz="1050">
              <a:latin typeface="Apto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1234440" cy="0"/>
          </a:xfrm>
          <a:prstGeom prst="line">
            <a:avLst/>
          </a:prstGeom>
          <a:noFill/>
          <a:ln w="2032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0" y="237744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6FFFB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89336" y="31089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QUANTIS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658368" y="1572768"/>
            <a:ext cx="6812280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224028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478024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</a:rPr>
              <a:t>Accueil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2926080" y="224028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35808" y="2478024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</a:rPr>
              <a:t>Connexion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937760" y="224028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2478024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</a:rPr>
              <a:t>Inscription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914400" y="3182112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3419856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</a:rPr>
              <a:t>Mot de passe oublié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2926080" y="3182112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35808" y="3419856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</a:rPr>
              <a:t>Réinitialisation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4937760" y="3182112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3419856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</a:rPr>
              <a:t>Ajout de données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914400" y="4123944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436168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</a:rPr>
              <a:t>Dashboard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2926080" y="4123944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35808" y="436168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</a:rPr>
              <a:t>Historique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4937760" y="4123944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436168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</a:rPr>
              <a:t>Profil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11521440" y="655624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5</a:t>
            </a:r>
            <a:endParaRPr lang="en-US" sz="900"/>
          </a:p>
        </p:txBody>
      </p:sp>
      <p:pic>
        <p:nvPicPr>
          <p:cNvPr id="29" name="Image 28" descr="Une image contenant texte, capture d’écran, Police, logiciel&#10;&#10;Le contenu généré par l’IA peut être incorrect.">
            <a:extLst>
              <a:ext uri="{FF2B5EF4-FFF2-40B4-BE49-F238E27FC236}">
                <a16:creationId xmlns:a16="http://schemas.microsoft.com/office/drawing/2014/main" id="{29A19D8D-AAE4-7F41-91A3-06E685DD4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500" y="1383894"/>
            <a:ext cx="2847975" cy="4905375"/>
          </a:xfrm>
          <a:prstGeom prst="rect">
            <a:avLst/>
          </a:prstGeom>
        </p:spPr>
      </p:pic>
      <p:sp>
        <p:nvSpPr>
          <p:cNvPr id="30" name="Shape 28"/>
          <p:cNvSpPr/>
          <p:nvPr/>
        </p:nvSpPr>
        <p:spPr>
          <a:xfrm>
            <a:off x="8258307" y="1386699"/>
            <a:ext cx="2855552" cy="4915289"/>
          </a:xfrm>
          <a:prstGeom prst="flowChartProcess">
            <a:avLst/>
          </a:prstGeom>
          <a:solidFill>
            <a:srgbClr val="FFFFFF">
              <a:alpha val="0"/>
            </a:srgbClr>
          </a:solidFill>
          <a:ln w="19050">
            <a:solidFill>
              <a:srgbClr val="14B8A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F172A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Fonctionnement des pages (1/6)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658368" y="99669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Accueil.</a:t>
            </a:r>
            <a:endParaRPr lang="en-US" sz="1050">
              <a:latin typeface="Apto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1234440" cy="0"/>
          </a:xfrm>
          <a:prstGeom prst="line">
            <a:avLst/>
          </a:prstGeom>
          <a:noFill/>
          <a:ln w="2032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0" y="237744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6FFFB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89336" y="31089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QUANTIS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10863284" cy="4480560"/>
          </a:xfrm>
          <a:prstGeom prst="flowChartProcess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59820" y="1810512"/>
            <a:ext cx="1762877" cy="629305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4744" y="2060590"/>
            <a:ext cx="1344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E7490"/>
                </a:solidFill>
              </a:rPr>
              <a:t>Page d’accueil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860670" y="3011991"/>
            <a:ext cx="2780060" cy="230336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2565" indent="-202565">
              <a:buSzPct val="100000"/>
              <a:buChar char="•"/>
            </a:pPr>
            <a:r>
              <a:rPr lang="en-US" sz="145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présente le projet et son utilité</a:t>
            </a:r>
            <a:endParaRPr lang="en-US" sz="1450"/>
          </a:p>
          <a:p>
            <a:pPr marL="202565" indent="-202565">
              <a:buSzPct val="100000"/>
              <a:buChar char="•"/>
            </a:pPr>
            <a:endParaRPr lang="en-US" sz="1450">
              <a:solidFill>
                <a:srgbClr val="0F172A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202565" indent="-202565">
              <a:buSzPct val="100000"/>
              <a:buChar char="•"/>
            </a:pPr>
            <a:r>
              <a:rPr lang="en-US" sz="145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 en avant la saisie rapide, le dashboard et les alertes</a:t>
            </a:r>
            <a:endParaRPr lang="en-US" sz="1450"/>
          </a:p>
          <a:p>
            <a:pPr marL="202565" indent="-202565">
              <a:buSzPct val="100000"/>
              <a:buChar char="•"/>
            </a:pPr>
            <a:endParaRPr lang="en-US" sz="1450">
              <a:solidFill>
                <a:srgbClr val="0F172A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202565" indent="-202565">
              <a:buSzPct val="100000"/>
              <a:buChar char="•"/>
            </a:pPr>
            <a:r>
              <a:rPr lang="en-US" sz="145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redirige vers les pages principales</a:t>
            </a:r>
            <a:endParaRPr lang="en-US" sz="1450"/>
          </a:p>
        </p:txBody>
      </p:sp>
      <p:sp>
        <p:nvSpPr>
          <p:cNvPr id="26" name="Text 24"/>
          <p:cNvSpPr/>
          <p:nvPr/>
        </p:nvSpPr>
        <p:spPr>
          <a:xfrm>
            <a:off x="11521440" y="655624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6</a:t>
            </a:r>
            <a:endParaRPr lang="en-US" sz="900"/>
          </a:p>
        </p:txBody>
      </p:sp>
      <p:pic>
        <p:nvPicPr>
          <p:cNvPr id="29" name="Image 28" descr="Une image contenant texte, capture d’écran, logiciel, multimédia&#10;&#10;Le contenu généré par l’IA peut être incorrect.">
            <a:extLst>
              <a:ext uri="{FF2B5EF4-FFF2-40B4-BE49-F238E27FC236}">
                <a16:creationId xmlns:a16="http://schemas.microsoft.com/office/drawing/2014/main" id="{8F24CC2B-453F-384E-0E4A-F56456367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814" y="2120432"/>
            <a:ext cx="6450419" cy="3582927"/>
          </a:xfrm>
          <a:prstGeom prst="rect">
            <a:avLst/>
          </a:prstGeom>
        </p:spPr>
      </p:pic>
      <p:sp>
        <p:nvSpPr>
          <p:cNvPr id="14" name="Shape 12"/>
          <p:cNvSpPr/>
          <p:nvPr/>
        </p:nvSpPr>
        <p:spPr>
          <a:xfrm>
            <a:off x="4453623" y="2123463"/>
            <a:ext cx="6457861" cy="3592741"/>
          </a:xfrm>
          <a:prstGeom prst="flowChartProcess">
            <a:avLst/>
          </a:prstGeom>
          <a:solidFill>
            <a:srgbClr val="FFFFFF">
              <a:alpha val="0"/>
            </a:srgbClr>
          </a:solidFill>
          <a:ln w="19050">
            <a:solidFill>
              <a:srgbClr val="14B8A6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EC76D8-7399-1376-0E55-AD06CC8A0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050647A-7FC4-343A-342C-5186BFE26FEE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742BE9F-04B2-2AF2-5B5E-068E6ED58E66}"/>
              </a:ext>
            </a:extLst>
          </p:cNvPr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7E0A958-2138-324C-2005-B433BCC3CF1A}"/>
              </a:ext>
            </a:extLst>
          </p:cNvPr>
          <p:cNvSpPr/>
          <p:nvPr/>
        </p:nvSpPr>
        <p:spPr>
          <a:xfrm>
            <a:off x="658368" y="43891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F172A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Fonctionnement des pages (2/6)</a:t>
            </a:r>
            <a:endParaRPr lang="en-US" sz="2400">
              <a:latin typeface="Aptos Display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6405EC2-1014-A991-FFF9-4D4AE88C2687}"/>
              </a:ext>
            </a:extLst>
          </p:cNvPr>
          <p:cNvSpPr/>
          <p:nvPr/>
        </p:nvSpPr>
        <p:spPr>
          <a:xfrm>
            <a:off x="658368" y="99669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Aptos"/>
              </a:rPr>
              <a:t>Authentifications.</a:t>
            </a:r>
            <a:endParaRPr lang="en-US" sz="1050">
              <a:latin typeface="Apto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C70F205-39C4-38F9-010D-C97E15E30057}"/>
              </a:ext>
            </a:extLst>
          </p:cNvPr>
          <p:cNvSpPr/>
          <p:nvPr/>
        </p:nvSpPr>
        <p:spPr>
          <a:xfrm>
            <a:off x="658368" y="1298448"/>
            <a:ext cx="1234440" cy="0"/>
          </a:xfrm>
          <a:prstGeom prst="line">
            <a:avLst/>
          </a:prstGeom>
          <a:noFill/>
          <a:ln w="20320">
            <a:solidFill>
              <a:srgbClr val="14B8A6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F1FFABA-4A5C-8F21-D66A-C9DD5BDA233E}"/>
              </a:ext>
            </a:extLst>
          </p:cNvPr>
          <p:cNvSpPr/>
          <p:nvPr/>
        </p:nvSpPr>
        <p:spPr>
          <a:xfrm>
            <a:off x="10561320" y="237744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6FFFB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089A763-52C8-B5DB-5D18-90D07F78723D}"/>
              </a:ext>
            </a:extLst>
          </p:cNvPr>
          <p:cNvSpPr/>
          <p:nvPr/>
        </p:nvSpPr>
        <p:spPr>
          <a:xfrm>
            <a:off x="10689336" y="31089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QUANTIS</a:t>
            </a:r>
            <a:endParaRPr lang="en-US" sz="10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95B586A-BDBF-AE41-1756-8E083240CD0E}"/>
              </a:ext>
            </a:extLst>
          </p:cNvPr>
          <p:cNvSpPr/>
          <p:nvPr/>
        </p:nvSpPr>
        <p:spPr>
          <a:xfrm>
            <a:off x="569763" y="1591056"/>
            <a:ext cx="10570889" cy="4480560"/>
          </a:xfrm>
          <a:prstGeom prst="flowChartProcess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6CE2B7E-47EC-D4FD-F019-D0893B59F513}"/>
              </a:ext>
            </a:extLst>
          </p:cNvPr>
          <p:cNvSpPr/>
          <p:nvPr/>
        </p:nvSpPr>
        <p:spPr>
          <a:xfrm>
            <a:off x="859820" y="1810512"/>
            <a:ext cx="2117295" cy="629305"/>
          </a:xfrm>
          <a:prstGeom prst="roundRect">
            <a:avLst>
              <a:gd name="adj" fmla="val 25000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1710A82-C411-446A-4F1C-801497641CFC}"/>
              </a:ext>
            </a:extLst>
          </p:cNvPr>
          <p:cNvSpPr/>
          <p:nvPr/>
        </p:nvSpPr>
        <p:spPr>
          <a:xfrm>
            <a:off x="1047023" y="2104892"/>
            <a:ext cx="1734028" cy="83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0F766E"/>
                </a:solidFill>
              </a:rPr>
              <a:t>Connexion / inscription</a:t>
            </a:r>
            <a:endParaRPr lang="fr-FR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89FB7B7-804E-5934-6111-A8A6BF7CCE13}"/>
              </a:ext>
            </a:extLst>
          </p:cNvPr>
          <p:cNvSpPr/>
          <p:nvPr/>
        </p:nvSpPr>
        <p:spPr>
          <a:xfrm>
            <a:off x="860670" y="3011991"/>
            <a:ext cx="2833222" cy="230336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2565" indent="-202565">
              <a:buSzPct val="100000"/>
              <a:buFont typeface="Arial"/>
              <a:buChar char="•"/>
            </a:pPr>
            <a:r>
              <a:rPr lang="en-US" sz="1500">
                <a:solidFill>
                  <a:srgbClr val="0F172A"/>
                </a:solidFill>
                <a:latin typeface="Aptos"/>
              </a:rPr>
              <a:t>création de compte</a:t>
            </a:r>
            <a:endParaRPr lang="en-US" sz="1500">
              <a:solidFill>
                <a:srgbClr val="0F172A"/>
              </a:solidFill>
            </a:endParaRPr>
          </a:p>
          <a:p>
            <a:pPr marL="202565" indent="-202565">
              <a:buSzPct val="100000"/>
              <a:buFont typeface="Arial"/>
              <a:buChar char="•"/>
            </a:pPr>
            <a:endParaRPr lang="en-US" sz="1500">
              <a:solidFill>
                <a:srgbClr val="0F172A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202565" indent="-202565">
              <a:buFont typeface="Arial"/>
              <a:buChar char="•"/>
            </a:pPr>
            <a:r>
              <a:rPr lang="en-US" sz="1500">
                <a:solidFill>
                  <a:srgbClr val="0F172A"/>
                </a:solidFill>
                <a:latin typeface="Aptos"/>
                <a:ea typeface="Aptos" pitchFamily="34" charset="-122"/>
                <a:cs typeface="Aptos" pitchFamily="34" charset="-120"/>
              </a:rPr>
              <a:t>connexion sécurisée</a:t>
            </a:r>
          </a:p>
          <a:p>
            <a:pPr marL="202565" indent="-202565">
              <a:buFont typeface="Arial"/>
              <a:buChar char="•"/>
            </a:pPr>
            <a:endParaRPr lang="en-US" sz="1500">
              <a:solidFill>
                <a:srgbClr val="0F172A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202565" indent="-202565">
              <a:buFont typeface="Arial"/>
              <a:buChar char="•"/>
            </a:pPr>
            <a:r>
              <a:rPr lang="en-US" sz="1500">
                <a:solidFill>
                  <a:srgbClr val="0F172A"/>
                </a:solidFill>
                <a:latin typeface="Aptos"/>
                <a:ea typeface="Aptos" pitchFamily="34" charset="-122"/>
                <a:cs typeface="Aptos" pitchFamily="34" charset="-120"/>
              </a:rPr>
              <a:t>mot de passe oublié</a:t>
            </a:r>
          </a:p>
          <a:p>
            <a:pPr marL="202565" indent="-202565">
              <a:buFont typeface="Arial"/>
              <a:buChar char="•"/>
            </a:pPr>
            <a:endParaRPr lang="en-US" sz="1500">
              <a:solidFill>
                <a:srgbClr val="0F172A"/>
              </a:solidFill>
              <a:latin typeface="Aptos"/>
            </a:endParaRPr>
          </a:p>
          <a:p>
            <a:pPr marL="202565" indent="-202565">
              <a:buFont typeface="Arial"/>
              <a:buChar char="•"/>
            </a:pPr>
            <a:r>
              <a:rPr lang="en-US" sz="1500">
                <a:solidFill>
                  <a:srgbClr val="0F172A"/>
                </a:solidFill>
                <a:latin typeface="Aptos"/>
              </a:rPr>
              <a:t>réinitialisation du mot de passe</a:t>
            </a:r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B4D986A-5E7E-37E4-66F9-DD57DD4D3967}"/>
              </a:ext>
            </a:extLst>
          </p:cNvPr>
          <p:cNvSpPr/>
          <p:nvPr/>
        </p:nvSpPr>
        <p:spPr>
          <a:xfrm>
            <a:off x="11521440" y="655624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6</a:t>
            </a:r>
            <a:endParaRPr lang="en-US" sz="900"/>
          </a:p>
        </p:txBody>
      </p:sp>
      <p:pic>
        <p:nvPicPr>
          <p:cNvPr id="10" name="Image 9" descr="Une image contenant texte, capture d’écran, logiciel, multimédia&#10;&#10;Le contenu généré par l’IA peut être incorrect.">
            <a:extLst>
              <a:ext uri="{FF2B5EF4-FFF2-40B4-BE49-F238E27FC236}">
                <a16:creationId xmlns:a16="http://schemas.microsoft.com/office/drawing/2014/main" id="{04DC8D78-2E20-BCEB-44E6-D043759D8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606" y="1814733"/>
            <a:ext cx="2882090" cy="3972812"/>
          </a:xfrm>
          <a:prstGeom prst="rect">
            <a:avLst/>
          </a:prstGeom>
        </p:spPr>
      </p:pic>
      <p:sp>
        <p:nvSpPr>
          <p:cNvPr id="23" name="Shape 21">
            <a:extLst>
              <a:ext uri="{FF2B5EF4-FFF2-40B4-BE49-F238E27FC236}">
                <a16:creationId xmlns:a16="http://schemas.microsoft.com/office/drawing/2014/main" id="{7D7053A7-CBE1-C7C6-5A75-E71034700110}"/>
              </a:ext>
            </a:extLst>
          </p:cNvPr>
          <p:cNvSpPr/>
          <p:nvPr/>
        </p:nvSpPr>
        <p:spPr>
          <a:xfrm>
            <a:off x="7917002" y="1810299"/>
            <a:ext cx="2895955" cy="3976789"/>
          </a:xfrm>
          <a:prstGeom prst="flowChartProcess">
            <a:avLst/>
          </a:prstGeom>
          <a:solidFill>
            <a:srgbClr val="FFFFFF">
              <a:alpha val="0"/>
            </a:srgbClr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16" name="Image 15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9E5CE1F4-807D-85F2-2FFB-7CE4D824E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2232" y="1816393"/>
            <a:ext cx="2845794" cy="3978350"/>
          </a:xfrm>
          <a:prstGeom prst="rect">
            <a:avLst/>
          </a:prstGeom>
        </p:spPr>
      </p:pic>
      <p:sp>
        <p:nvSpPr>
          <p:cNvPr id="17" name="Shape 18">
            <a:extLst>
              <a:ext uri="{FF2B5EF4-FFF2-40B4-BE49-F238E27FC236}">
                <a16:creationId xmlns:a16="http://schemas.microsoft.com/office/drawing/2014/main" id="{BA630009-AD8D-B541-7B99-742EC85F7B28}"/>
              </a:ext>
            </a:extLst>
          </p:cNvPr>
          <p:cNvSpPr/>
          <p:nvPr/>
        </p:nvSpPr>
        <p:spPr>
          <a:xfrm>
            <a:off x="4248769" y="1813347"/>
            <a:ext cx="2851654" cy="3985650"/>
          </a:xfrm>
          <a:prstGeom prst="flowChartProcess">
            <a:avLst/>
          </a:prstGeom>
          <a:solidFill>
            <a:srgbClr val="FFFFFF">
              <a:alpha val="0"/>
            </a:srgbClr>
          </a:solidFill>
          <a:ln w="19050">
            <a:solidFill>
              <a:srgbClr val="14B8A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184974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3C9908-6E28-9885-BAE6-20E50CA97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03B687-AFB2-2EB0-7692-80F72BC6F311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A03BEB9-B91A-C397-66A0-AB00BC642272}"/>
              </a:ext>
            </a:extLst>
          </p:cNvPr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352212-DE2C-C40A-B712-58B8C47E0727}"/>
              </a:ext>
            </a:extLst>
          </p:cNvPr>
          <p:cNvSpPr/>
          <p:nvPr/>
        </p:nvSpPr>
        <p:spPr>
          <a:xfrm>
            <a:off x="658368" y="43891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F172A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Fonctionnement des pages (3/6)</a:t>
            </a:r>
            <a:endParaRPr 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900C7DE-5E85-165F-37F4-8F372CEC0EE1}"/>
              </a:ext>
            </a:extLst>
          </p:cNvPr>
          <p:cNvSpPr/>
          <p:nvPr/>
        </p:nvSpPr>
        <p:spPr>
          <a:xfrm>
            <a:off x="658368" y="99669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475569"/>
                </a:solidFill>
                <a:latin typeface="Aptos"/>
              </a:rPr>
              <a:t>Ajout de données.</a:t>
            </a:r>
            <a:endParaRPr lang="fr-F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D268D3F-AA29-F767-97E2-B09EF67A28C4}"/>
              </a:ext>
            </a:extLst>
          </p:cNvPr>
          <p:cNvSpPr/>
          <p:nvPr/>
        </p:nvSpPr>
        <p:spPr>
          <a:xfrm>
            <a:off x="658368" y="1298448"/>
            <a:ext cx="1234440" cy="0"/>
          </a:xfrm>
          <a:prstGeom prst="line">
            <a:avLst/>
          </a:prstGeom>
          <a:noFill/>
          <a:ln w="20320">
            <a:solidFill>
              <a:srgbClr val="14B8A6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7658B82-33F1-2994-9376-6DE12E1FC62A}"/>
              </a:ext>
            </a:extLst>
          </p:cNvPr>
          <p:cNvSpPr/>
          <p:nvPr/>
        </p:nvSpPr>
        <p:spPr>
          <a:xfrm>
            <a:off x="10561320" y="237744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6FFFB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A54E530-317F-4C3B-7A9A-F58F39B41360}"/>
              </a:ext>
            </a:extLst>
          </p:cNvPr>
          <p:cNvSpPr/>
          <p:nvPr/>
        </p:nvSpPr>
        <p:spPr>
          <a:xfrm>
            <a:off x="10689336" y="31089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QUANTIS</a:t>
            </a:r>
            <a:endParaRPr lang="en-US" sz="10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86B61CC-5E63-9984-D599-7621FEB3324A}"/>
              </a:ext>
            </a:extLst>
          </p:cNvPr>
          <p:cNvSpPr/>
          <p:nvPr/>
        </p:nvSpPr>
        <p:spPr>
          <a:xfrm>
            <a:off x="658368" y="1591056"/>
            <a:ext cx="10863284" cy="4480560"/>
          </a:xfrm>
          <a:prstGeom prst="flowChartProcess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53B0A36-8758-4EFB-312D-56A46DD483B0}"/>
              </a:ext>
            </a:extLst>
          </p:cNvPr>
          <p:cNvSpPr/>
          <p:nvPr/>
        </p:nvSpPr>
        <p:spPr>
          <a:xfrm>
            <a:off x="859820" y="1810512"/>
            <a:ext cx="1762877" cy="629305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43C9878-778F-BC7B-7845-70512E21B5B1}"/>
              </a:ext>
            </a:extLst>
          </p:cNvPr>
          <p:cNvSpPr/>
          <p:nvPr/>
        </p:nvSpPr>
        <p:spPr>
          <a:xfrm>
            <a:off x="1064744" y="2060590"/>
            <a:ext cx="1344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0E7490"/>
                </a:solidFill>
              </a:rPr>
              <a:t>Ajout de données</a:t>
            </a:r>
            <a:endParaRPr lang="fr-FR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C3B4C82-C787-FD21-56E3-136AFC45A828}"/>
              </a:ext>
            </a:extLst>
          </p:cNvPr>
          <p:cNvSpPr/>
          <p:nvPr/>
        </p:nvSpPr>
        <p:spPr>
          <a:xfrm>
            <a:off x="860670" y="3011991"/>
            <a:ext cx="2780060" cy="230336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2565" indent="-202565">
              <a:buSzPct val="100000"/>
              <a:buFont typeface="Arial"/>
              <a:buChar char="•"/>
            </a:pPr>
            <a:r>
              <a:rPr lang="en-US" sz="1500">
                <a:solidFill>
                  <a:srgbClr val="0F172A"/>
                </a:solidFill>
                <a:latin typeface="Aptos"/>
              </a:rPr>
              <a:t>formulaire de saisie</a:t>
            </a:r>
            <a:endParaRPr lang="en-US" sz="1500">
              <a:solidFill>
                <a:srgbClr val="0F172A"/>
              </a:solidFill>
            </a:endParaRPr>
          </a:p>
          <a:p>
            <a:pPr marL="202565" indent="-202565">
              <a:buSzPct val="100000"/>
              <a:buFont typeface="Arial"/>
              <a:buChar char="•"/>
            </a:pPr>
            <a:endParaRPr lang="en-US" sz="1500">
              <a:solidFill>
                <a:srgbClr val="0F172A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202565" indent="-202565">
              <a:buFont typeface="Arial"/>
              <a:buChar char="•"/>
            </a:pPr>
            <a:r>
              <a:rPr lang="en-US" sz="1500">
                <a:solidFill>
                  <a:srgbClr val="0F172A"/>
                </a:solidFill>
                <a:latin typeface="Aptos"/>
                <a:ea typeface="Aptos" pitchFamily="34" charset="-122"/>
                <a:cs typeface="Aptos" pitchFamily="34" charset="-120"/>
              </a:rPr>
              <a:t>enregistrement d’une consommation</a:t>
            </a:r>
          </a:p>
          <a:p>
            <a:pPr marL="202565" indent="-202565">
              <a:buFont typeface="Arial"/>
              <a:buChar char="•"/>
            </a:pPr>
            <a:endParaRPr lang="en-US" sz="1500">
              <a:solidFill>
                <a:srgbClr val="0F172A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202565" indent="-202565">
              <a:buFont typeface="Arial"/>
              <a:buChar char="•"/>
            </a:pPr>
            <a:r>
              <a:rPr lang="en-US" sz="1500">
                <a:solidFill>
                  <a:srgbClr val="0F172A"/>
                </a:solidFill>
                <a:latin typeface="Aptos"/>
                <a:ea typeface="Aptos" pitchFamily="34" charset="-122"/>
                <a:cs typeface="Aptos" pitchFamily="34" charset="-120"/>
              </a:rPr>
              <a:t>alimentation du dashboard et de l’historique</a:t>
            </a:r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95CD07F-A74E-0FCB-F882-801428442E26}"/>
              </a:ext>
            </a:extLst>
          </p:cNvPr>
          <p:cNvSpPr/>
          <p:nvPr/>
        </p:nvSpPr>
        <p:spPr>
          <a:xfrm>
            <a:off x="11521440" y="655624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6</a:t>
            </a:r>
            <a:endParaRPr lang="en-US" sz="900"/>
          </a:p>
        </p:txBody>
      </p:sp>
      <p:pic>
        <p:nvPicPr>
          <p:cNvPr id="10" name="Image 9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E382A611-D17F-D175-8ABD-21E7A0372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140" y="2127146"/>
            <a:ext cx="6228906" cy="3587220"/>
          </a:xfrm>
          <a:prstGeom prst="rect">
            <a:avLst/>
          </a:prstGeom>
        </p:spPr>
      </p:pic>
      <p:sp>
        <p:nvSpPr>
          <p:cNvPr id="14" name="Shape 12">
            <a:extLst>
              <a:ext uri="{FF2B5EF4-FFF2-40B4-BE49-F238E27FC236}">
                <a16:creationId xmlns:a16="http://schemas.microsoft.com/office/drawing/2014/main" id="{6604BD05-ADD3-97D0-01F1-2E42D92B5381}"/>
              </a:ext>
            </a:extLst>
          </p:cNvPr>
          <p:cNvSpPr/>
          <p:nvPr/>
        </p:nvSpPr>
        <p:spPr>
          <a:xfrm>
            <a:off x="4559949" y="2123463"/>
            <a:ext cx="6236350" cy="3592741"/>
          </a:xfrm>
          <a:prstGeom prst="flowChartProcess">
            <a:avLst/>
          </a:prstGeom>
          <a:solidFill>
            <a:srgbClr val="FFFFFF">
              <a:alpha val="0"/>
            </a:srgbClr>
          </a:solidFill>
          <a:ln w="19050">
            <a:solidFill>
              <a:srgbClr val="14B8A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64719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C5715-9843-975B-1C3E-1A570372F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">
            <a:extLst>
              <a:ext uri="{FF2B5EF4-FFF2-40B4-BE49-F238E27FC236}">
                <a16:creationId xmlns:a16="http://schemas.microsoft.com/office/drawing/2014/main" id="{518176F5-EF1E-9E47-66E5-9EC2D08100FE}"/>
              </a:ext>
            </a:extLst>
          </p:cNvPr>
          <p:cNvSpPr/>
          <p:nvPr/>
        </p:nvSpPr>
        <p:spPr>
          <a:xfrm>
            <a:off x="3957438" y="2105743"/>
            <a:ext cx="7246441" cy="3592741"/>
          </a:xfrm>
          <a:prstGeom prst="roundRect">
            <a:avLst>
              <a:gd name="adj" fmla="val 3265"/>
            </a:avLst>
          </a:prstGeom>
          <a:solidFill>
            <a:srgbClr val="FFFFFF">
              <a:alpha val="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22986817-0F73-AAB4-BF37-3FC7FB1A7B06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68DF6BF-15F4-C81E-2B94-0936A3C4E5B6}"/>
              </a:ext>
            </a:extLst>
          </p:cNvPr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6E01DC5-84D4-1D83-CA7F-28E8B025A461}"/>
              </a:ext>
            </a:extLst>
          </p:cNvPr>
          <p:cNvSpPr/>
          <p:nvPr/>
        </p:nvSpPr>
        <p:spPr>
          <a:xfrm>
            <a:off x="658368" y="43891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F172A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Fonctionnement des pages (4/6)</a:t>
            </a:r>
            <a:endParaRPr lang="en-US" sz="2400">
              <a:latin typeface="Aptos Display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7AAEF8B-A603-3481-1881-1CC6218C23E5}"/>
              </a:ext>
            </a:extLst>
          </p:cNvPr>
          <p:cNvSpPr/>
          <p:nvPr/>
        </p:nvSpPr>
        <p:spPr>
          <a:xfrm>
            <a:off x="658368" y="99669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Aptos"/>
              </a:rPr>
              <a:t>D</a:t>
            </a:r>
            <a:r>
              <a:rPr lang="en-US" sz="1100">
                <a:solidFill>
                  <a:srgbClr val="475569"/>
                </a:solidFill>
                <a:latin typeface="Aptos"/>
              </a:rPr>
              <a:t>ashboard.</a:t>
            </a:r>
            <a:endParaRPr lang="en-US" sz="1050">
              <a:latin typeface="Apto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CC53FED-6E31-2B6C-B8C4-93740F3D2DD9}"/>
              </a:ext>
            </a:extLst>
          </p:cNvPr>
          <p:cNvSpPr/>
          <p:nvPr/>
        </p:nvSpPr>
        <p:spPr>
          <a:xfrm>
            <a:off x="658368" y="1298448"/>
            <a:ext cx="1234440" cy="0"/>
          </a:xfrm>
          <a:prstGeom prst="line">
            <a:avLst/>
          </a:prstGeom>
          <a:noFill/>
          <a:ln w="20320">
            <a:solidFill>
              <a:srgbClr val="14B8A6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26CC783-B3C4-BD5F-1550-FFC2B60B7F6D}"/>
              </a:ext>
            </a:extLst>
          </p:cNvPr>
          <p:cNvSpPr/>
          <p:nvPr/>
        </p:nvSpPr>
        <p:spPr>
          <a:xfrm>
            <a:off x="10561320" y="237744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6FFFB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603171E-8C36-8110-A0EE-E2A4C19A66C6}"/>
              </a:ext>
            </a:extLst>
          </p:cNvPr>
          <p:cNvSpPr/>
          <p:nvPr/>
        </p:nvSpPr>
        <p:spPr>
          <a:xfrm>
            <a:off x="10689336" y="31089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QUANTIS</a:t>
            </a:r>
            <a:endParaRPr lang="en-US" sz="10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D659A11-73B4-813A-2082-300FC88B74F0}"/>
              </a:ext>
            </a:extLst>
          </p:cNvPr>
          <p:cNvSpPr/>
          <p:nvPr/>
        </p:nvSpPr>
        <p:spPr>
          <a:xfrm>
            <a:off x="569763" y="1591056"/>
            <a:ext cx="10863284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FF224FD-F76B-57B1-7BD0-5E9B45449700}"/>
              </a:ext>
            </a:extLst>
          </p:cNvPr>
          <p:cNvSpPr/>
          <p:nvPr/>
        </p:nvSpPr>
        <p:spPr>
          <a:xfrm>
            <a:off x="859820" y="1810512"/>
            <a:ext cx="2117295" cy="629305"/>
          </a:xfrm>
          <a:prstGeom prst="roundRect">
            <a:avLst>
              <a:gd name="adj" fmla="val 25000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C5ED1C0-189C-7B40-0AF2-A17E7FA1B45C}"/>
              </a:ext>
            </a:extLst>
          </p:cNvPr>
          <p:cNvSpPr/>
          <p:nvPr/>
        </p:nvSpPr>
        <p:spPr>
          <a:xfrm>
            <a:off x="1047023" y="2104892"/>
            <a:ext cx="1734028" cy="83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0F766E"/>
                </a:solidFill>
              </a:rPr>
              <a:t>Dashboard</a:t>
            </a:r>
            <a:endParaRPr lang="fr-FR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744E7FC-8EF1-04C9-A3D2-8327ED900E30}"/>
              </a:ext>
            </a:extLst>
          </p:cNvPr>
          <p:cNvSpPr/>
          <p:nvPr/>
        </p:nvSpPr>
        <p:spPr>
          <a:xfrm>
            <a:off x="860670" y="3011991"/>
            <a:ext cx="2833222" cy="230336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2565" indent="-202565">
              <a:buSzPct val="100000"/>
              <a:buFont typeface="Arial"/>
              <a:buChar char="•"/>
            </a:pPr>
            <a:r>
              <a:rPr lang="en-US" sz="1500">
                <a:solidFill>
                  <a:srgbClr val="0F172A"/>
                </a:solidFill>
                <a:latin typeface="Aptos"/>
              </a:rPr>
              <a:t>vue synthétique des données</a:t>
            </a:r>
            <a:endParaRPr lang="en-US" sz="1500">
              <a:solidFill>
                <a:srgbClr val="0F172A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202565" indent="-202565">
              <a:buSzPct val="100000"/>
              <a:buFont typeface="Arial"/>
              <a:buChar char="•"/>
            </a:pPr>
            <a:endParaRPr lang="en-US" sz="1500">
              <a:solidFill>
                <a:srgbClr val="0F172A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202565" indent="-202565">
              <a:buFont typeface="Arial"/>
              <a:buChar char="•"/>
            </a:pPr>
            <a:r>
              <a:rPr lang="en-US" sz="1500">
                <a:solidFill>
                  <a:srgbClr val="0F172A"/>
                </a:solidFill>
                <a:latin typeface="Aptos"/>
                <a:ea typeface="Aptos" pitchFamily="34" charset="-122"/>
                <a:cs typeface="Aptos" pitchFamily="34" charset="-120"/>
              </a:rPr>
              <a:t>lecture rapide des indicateurs</a:t>
            </a:r>
          </a:p>
          <a:p>
            <a:pPr marL="202565" indent="-202565">
              <a:buFont typeface="Arial"/>
              <a:buChar char="•"/>
            </a:pPr>
            <a:endParaRPr lang="en-US" sz="1500">
              <a:solidFill>
                <a:srgbClr val="0F172A"/>
              </a:solidFill>
              <a:latin typeface="Aptos"/>
            </a:endParaRPr>
          </a:p>
          <a:p>
            <a:pPr marL="202565" indent="-202565">
              <a:buFont typeface="Arial"/>
              <a:buChar char="•"/>
            </a:pPr>
            <a:r>
              <a:rPr lang="en-US" sz="1500">
                <a:solidFill>
                  <a:srgbClr val="0F172A"/>
                </a:solidFill>
                <a:latin typeface="Aptos"/>
              </a:rPr>
              <a:t>centralisation des informations importantes</a:t>
            </a:r>
          </a:p>
          <a:p>
            <a:pPr marL="202565" indent="-202565">
              <a:buSzPct val="100000"/>
              <a:buFont typeface="Arial"/>
              <a:buChar char="•"/>
            </a:pPr>
            <a:endParaRPr lang="en-US" sz="1500">
              <a:solidFill>
                <a:srgbClr val="0F172A"/>
              </a:solidFill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4E6CDD4-668F-A22D-57EC-E72879A836CA}"/>
              </a:ext>
            </a:extLst>
          </p:cNvPr>
          <p:cNvSpPr/>
          <p:nvPr/>
        </p:nvSpPr>
        <p:spPr>
          <a:xfrm>
            <a:off x="11521440" y="655624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6</a:t>
            </a:r>
            <a:endParaRPr lang="en-US" sz="900"/>
          </a:p>
        </p:txBody>
      </p:sp>
      <p:pic>
        <p:nvPicPr>
          <p:cNvPr id="10" name="Image 9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926F20B0-664B-EF25-6FF0-4330C2949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109" y="2135372"/>
            <a:ext cx="6106970" cy="3570768"/>
          </a:xfrm>
          <a:prstGeom prst="rect">
            <a:avLst/>
          </a:prstGeom>
        </p:spPr>
      </p:pic>
      <p:sp>
        <p:nvSpPr>
          <p:cNvPr id="16" name="Shape 12">
            <a:extLst>
              <a:ext uri="{FF2B5EF4-FFF2-40B4-BE49-F238E27FC236}">
                <a16:creationId xmlns:a16="http://schemas.microsoft.com/office/drawing/2014/main" id="{584B61B1-82D8-C28B-9E34-0A475E8D06E4}"/>
              </a:ext>
            </a:extLst>
          </p:cNvPr>
          <p:cNvSpPr/>
          <p:nvPr/>
        </p:nvSpPr>
        <p:spPr>
          <a:xfrm>
            <a:off x="4621971" y="2132323"/>
            <a:ext cx="6112304" cy="3575021"/>
          </a:xfrm>
          <a:prstGeom prst="flowChartProcess">
            <a:avLst/>
          </a:prstGeom>
          <a:solidFill>
            <a:srgbClr val="FFFFFF">
              <a:alpha val="0"/>
            </a:srgbClr>
          </a:solidFill>
          <a:ln w="19050">
            <a:solidFill>
              <a:srgbClr val="14B8A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40089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EF563D-408F-F009-481F-F79A30D86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272FF4-A56F-D6EA-DA9D-2CA1125C1348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AFCBA8D-A0F3-1B49-3D7F-77A8ABA597E1}"/>
              </a:ext>
            </a:extLst>
          </p:cNvPr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1AE2EAF-A67A-6781-D38E-8FF3600D7E74}"/>
              </a:ext>
            </a:extLst>
          </p:cNvPr>
          <p:cNvSpPr/>
          <p:nvPr/>
        </p:nvSpPr>
        <p:spPr>
          <a:xfrm>
            <a:off x="658368" y="43891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F172A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Fonctionnement des pages (5/6)</a:t>
            </a:r>
            <a:endParaRPr 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A7560B9-8FA1-C68B-1744-98236CF2D861}"/>
              </a:ext>
            </a:extLst>
          </p:cNvPr>
          <p:cNvSpPr/>
          <p:nvPr/>
        </p:nvSpPr>
        <p:spPr>
          <a:xfrm>
            <a:off x="658368" y="99669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475569"/>
                </a:solidFill>
                <a:latin typeface="Aptos"/>
              </a:rPr>
              <a:t>Historique.</a:t>
            </a:r>
            <a:endParaRPr lang="fr-F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0DB1519-85A9-49BB-FBBF-5F76FA262FEA}"/>
              </a:ext>
            </a:extLst>
          </p:cNvPr>
          <p:cNvSpPr/>
          <p:nvPr/>
        </p:nvSpPr>
        <p:spPr>
          <a:xfrm>
            <a:off x="658368" y="1298448"/>
            <a:ext cx="1234440" cy="0"/>
          </a:xfrm>
          <a:prstGeom prst="line">
            <a:avLst/>
          </a:prstGeom>
          <a:noFill/>
          <a:ln w="20320">
            <a:solidFill>
              <a:srgbClr val="14B8A6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DF2CAA2-0567-2A1A-E316-038037E7DF56}"/>
              </a:ext>
            </a:extLst>
          </p:cNvPr>
          <p:cNvSpPr/>
          <p:nvPr/>
        </p:nvSpPr>
        <p:spPr>
          <a:xfrm>
            <a:off x="10561320" y="237744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6FFFB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6B85773-9B06-97EE-30CD-FDEACB18386D}"/>
              </a:ext>
            </a:extLst>
          </p:cNvPr>
          <p:cNvSpPr/>
          <p:nvPr/>
        </p:nvSpPr>
        <p:spPr>
          <a:xfrm>
            <a:off x="10689336" y="31089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QUANTIS</a:t>
            </a:r>
            <a:endParaRPr lang="en-US" sz="10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DBA0624-9E2D-1937-EC5B-69E65D2F8C87}"/>
              </a:ext>
            </a:extLst>
          </p:cNvPr>
          <p:cNvSpPr/>
          <p:nvPr/>
        </p:nvSpPr>
        <p:spPr>
          <a:xfrm>
            <a:off x="658368" y="1591056"/>
            <a:ext cx="10863284" cy="4480560"/>
          </a:xfrm>
          <a:prstGeom prst="flowChartProcess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4F780A3-3F2A-6210-4C0A-B609DBDA4840}"/>
              </a:ext>
            </a:extLst>
          </p:cNvPr>
          <p:cNvSpPr/>
          <p:nvPr/>
        </p:nvSpPr>
        <p:spPr>
          <a:xfrm>
            <a:off x="859820" y="1810512"/>
            <a:ext cx="1762877" cy="629305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A8E940B-CBC8-1768-79EA-EC0C744DCEF7}"/>
              </a:ext>
            </a:extLst>
          </p:cNvPr>
          <p:cNvSpPr/>
          <p:nvPr/>
        </p:nvSpPr>
        <p:spPr>
          <a:xfrm>
            <a:off x="1064744" y="2060590"/>
            <a:ext cx="1344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0E7490"/>
                </a:solidFill>
              </a:rPr>
              <a:t>Historique</a:t>
            </a:r>
            <a:endParaRPr lang="fr-FR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F75D9FE-CC54-EC42-D233-D0425FC0A7C1}"/>
              </a:ext>
            </a:extLst>
          </p:cNvPr>
          <p:cNvSpPr/>
          <p:nvPr/>
        </p:nvSpPr>
        <p:spPr>
          <a:xfrm>
            <a:off x="860670" y="3011991"/>
            <a:ext cx="2780060" cy="230336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2565" indent="-202565">
              <a:buSzPct val="100000"/>
              <a:buFont typeface="Arial"/>
              <a:buChar char="•"/>
            </a:pPr>
            <a:r>
              <a:rPr lang="en-US" sz="1500">
                <a:solidFill>
                  <a:srgbClr val="0F172A"/>
                </a:solidFill>
                <a:latin typeface="Aptos"/>
              </a:rPr>
              <a:t>consultation des données </a:t>
            </a:r>
            <a:r>
              <a:rPr lang="en-US" sz="1500">
                <a:solidFill>
                  <a:srgbClr val="0F172A"/>
                </a:solidFill>
                <a:latin typeface="Aptos"/>
                <a:ea typeface="Aptos" pitchFamily="34" charset="-122"/>
                <a:cs typeface="Aptos" pitchFamily="34" charset="-120"/>
              </a:rPr>
              <a:t>enregistrées</a:t>
            </a:r>
          </a:p>
          <a:p>
            <a:pPr marL="202565" indent="-202565">
              <a:buSzPct val="100000"/>
              <a:buFont typeface="Arial"/>
              <a:buChar char="•"/>
            </a:pPr>
            <a:endParaRPr lang="en-US" sz="1500">
              <a:solidFill>
                <a:srgbClr val="0F172A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202565" indent="-202565">
              <a:buFont typeface="Arial"/>
              <a:buChar char="•"/>
            </a:pPr>
            <a:r>
              <a:rPr lang="en-US" sz="1500">
                <a:solidFill>
                  <a:srgbClr val="0F172A"/>
                </a:solidFill>
                <a:latin typeface="Aptos"/>
                <a:ea typeface="Aptos" pitchFamily="34" charset="-122"/>
                <a:cs typeface="Aptos" pitchFamily="34" charset="-120"/>
              </a:rPr>
              <a:t>lecture chronologique des consommations</a:t>
            </a:r>
          </a:p>
          <a:p>
            <a:pPr marL="202565" indent="-202565">
              <a:buFont typeface="Arial"/>
              <a:buChar char="•"/>
            </a:pPr>
            <a:endParaRPr lang="en-US" sz="1500">
              <a:solidFill>
                <a:srgbClr val="0F172A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202565" indent="-202565">
              <a:buFont typeface="Arial"/>
              <a:buChar char="•"/>
            </a:pPr>
            <a:r>
              <a:rPr lang="en-US" sz="1500">
                <a:solidFill>
                  <a:srgbClr val="0F172A"/>
                </a:solidFill>
                <a:latin typeface="Aptos"/>
                <a:ea typeface="Aptos" pitchFamily="34" charset="-122"/>
                <a:cs typeface="Aptos" pitchFamily="34" charset="-120"/>
              </a:rPr>
              <a:t>analyse plus détaillée qu’en dashboard</a:t>
            </a:r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F43E3F8-924C-9A57-BF5A-73FA3B357435}"/>
              </a:ext>
            </a:extLst>
          </p:cNvPr>
          <p:cNvSpPr/>
          <p:nvPr/>
        </p:nvSpPr>
        <p:spPr>
          <a:xfrm>
            <a:off x="11521440" y="655624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6</a:t>
            </a:r>
            <a:endParaRPr lang="en-US" sz="900"/>
          </a:p>
        </p:txBody>
      </p:sp>
      <p:pic>
        <p:nvPicPr>
          <p:cNvPr id="10" name="Image 9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0456510F-8010-95E3-0FC7-BD4AA730B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147" y="2153092"/>
            <a:ext cx="6336028" cy="3526466"/>
          </a:xfrm>
          <a:prstGeom prst="rect">
            <a:avLst/>
          </a:prstGeom>
        </p:spPr>
      </p:pic>
      <p:sp>
        <p:nvSpPr>
          <p:cNvPr id="14" name="Shape 12">
            <a:extLst>
              <a:ext uri="{FF2B5EF4-FFF2-40B4-BE49-F238E27FC236}">
                <a16:creationId xmlns:a16="http://schemas.microsoft.com/office/drawing/2014/main" id="{3FA5FC87-1C6C-0CD1-8839-55B2D23A0F6F}"/>
              </a:ext>
            </a:extLst>
          </p:cNvPr>
          <p:cNvSpPr/>
          <p:nvPr/>
        </p:nvSpPr>
        <p:spPr>
          <a:xfrm>
            <a:off x="4506785" y="2150044"/>
            <a:ext cx="6351536" cy="3530719"/>
          </a:xfrm>
          <a:prstGeom prst="flowChartProcess">
            <a:avLst/>
          </a:prstGeom>
          <a:solidFill>
            <a:srgbClr val="FFFFFF">
              <a:alpha val="0"/>
            </a:srgbClr>
          </a:solidFill>
          <a:ln w="19050">
            <a:solidFill>
              <a:srgbClr val="14B8A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24927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438AD-9C6B-5B6A-8941-FB7EF4AD5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8">
            <a:extLst>
              <a:ext uri="{FF2B5EF4-FFF2-40B4-BE49-F238E27FC236}">
                <a16:creationId xmlns:a16="http://schemas.microsoft.com/office/drawing/2014/main" id="{8B50DAFD-0CD3-FE8B-71FD-FD0E97EAFD02}"/>
              </a:ext>
            </a:extLst>
          </p:cNvPr>
          <p:cNvSpPr/>
          <p:nvPr/>
        </p:nvSpPr>
        <p:spPr>
          <a:xfrm>
            <a:off x="569197" y="1591056"/>
            <a:ext cx="10952243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8BC1053-E47F-739A-584E-E0587CBB2543}"/>
              </a:ext>
            </a:extLst>
          </p:cNvPr>
          <p:cNvSpPr/>
          <p:nvPr/>
        </p:nvSpPr>
        <p:spPr>
          <a:xfrm>
            <a:off x="3957438" y="2105743"/>
            <a:ext cx="7246441" cy="3592741"/>
          </a:xfrm>
          <a:prstGeom prst="roundRect">
            <a:avLst>
              <a:gd name="adj" fmla="val 3265"/>
            </a:avLst>
          </a:prstGeom>
          <a:solidFill>
            <a:srgbClr val="FFFFFF">
              <a:alpha val="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2A639804-9C70-08F0-A0BB-E809210DB689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9241B80-20DE-5EE3-CBF7-B4776B346D9D}"/>
              </a:ext>
            </a:extLst>
          </p:cNvPr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401538-C196-0946-9D54-5C81A6203955}"/>
              </a:ext>
            </a:extLst>
          </p:cNvPr>
          <p:cNvSpPr/>
          <p:nvPr/>
        </p:nvSpPr>
        <p:spPr>
          <a:xfrm>
            <a:off x="658368" y="43891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F172A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Fonctionnement des pages (6/6)</a:t>
            </a:r>
            <a:endParaRPr lang="en-US" sz="2400">
              <a:latin typeface="Aptos Display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CB22AD6-2DDA-A09F-DD36-7A1C92FCAE4D}"/>
              </a:ext>
            </a:extLst>
          </p:cNvPr>
          <p:cNvSpPr/>
          <p:nvPr/>
        </p:nvSpPr>
        <p:spPr>
          <a:xfrm>
            <a:off x="658368" y="99669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475569"/>
                </a:solidFill>
                <a:latin typeface="Aptos"/>
              </a:rPr>
              <a:t>Profil &amp; Parametre.</a:t>
            </a:r>
            <a:endParaRPr lang="en-US" sz="1050">
              <a:latin typeface="Apto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C87A28A-C561-89E2-7A3C-36CAD580FE3E}"/>
              </a:ext>
            </a:extLst>
          </p:cNvPr>
          <p:cNvSpPr/>
          <p:nvPr/>
        </p:nvSpPr>
        <p:spPr>
          <a:xfrm>
            <a:off x="658368" y="1298448"/>
            <a:ext cx="1234440" cy="0"/>
          </a:xfrm>
          <a:prstGeom prst="line">
            <a:avLst/>
          </a:prstGeom>
          <a:noFill/>
          <a:ln w="20320">
            <a:solidFill>
              <a:srgbClr val="14B8A6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BD1988B-C3FD-7D56-163B-5FB4372C8D23}"/>
              </a:ext>
            </a:extLst>
          </p:cNvPr>
          <p:cNvSpPr/>
          <p:nvPr/>
        </p:nvSpPr>
        <p:spPr>
          <a:xfrm>
            <a:off x="10561320" y="237744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6FFFB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B3C2CC9-6747-1D81-6A85-8B05A0D3EA4A}"/>
              </a:ext>
            </a:extLst>
          </p:cNvPr>
          <p:cNvSpPr/>
          <p:nvPr/>
        </p:nvSpPr>
        <p:spPr>
          <a:xfrm>
            <a:off x="10689336" y="31089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QUANTIS</a:t>
            </a:r>
            <a:endParaRPr lang="en-US" sz="10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881BF91-CD78-42F2-6B75-E5FBDD915391}"/>
              </a:ext>
            </a:extLst>
          </p:cNvPr>
          <p:cNvSpPr/>
          <p:nvPr/>
        </p:nvSpPr>
        <p:spPr>
          <a:xfrm>
            <a:off x="808995" y="1608776"/>
            <a:ext cx="10712656" cy="446284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B0E78AD-EB64-FFBA-543F-F7BA4FE8443B}"/>
              </a:ext>
            </a:extLst>
          </p:cNvPr>
          <p:cNvSpPr/>
          <p:nvPr/>
        </p:nvSpPr>
        <p:spPr>
          <a:xfrm>
            <a:off x="859820" y="1810512"/>
            <a:ext cx="2117295" cy="629305"/>
          </a:xfrm>
          <a:prstGeom prst="roundRect">
            <a:avLst>
              <a:gd name="adj" fmla="val 25000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18CA686-DE8D-C702-E5BB-756B8BEF36EA}"/>
              </a:ext>
            </a:extLst>
          </p:cNvPr>
          <p:cNvSpPr/>
          <p:nvPr/>
        </p:nvSpPr>
        <p:spPr>
          <a:xfrm>
            <a:off x="1047023" y="2104892"/>
            <a:ext cx="1734028" cy="83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0F766E"/>
                </a:solidFill>
              </a:rPr>
              <a:t>Profil &amp; Parametre</a:t>
            </a:r>
            <a:endParaRPr lang="fr-FR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E79EDBC-E68F-F6B0-3752-69642D75B863}"/>
              </a:ext>
            </a:extLst>
          </p:cNvPr>
          <p:cNvSpPr/>
          <p:nvPr/>
        </p:nvSpPr>
        <p:spPr>
          <a:xfrm>
            <a:off x="860670" y="3011991"/>
            <a:ext cx="2833222" cy="230336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2565" indent="-202565">
              <a:buSzPct val="100000"/>
              <a:buFont typeface="Arial"/>
              <a:buChar char="•"/>
            </a:pPr>
            <a:r>
              <a:rPr lang="en-US" sz="1500">
                <a:solidFill>
                  <a:srgbClr val="0F172A"/>
                </a:solidFill>
                <a:latin typeface="Aptos"/>
              </a:rPr>
              <a:t>gestion </a:t>
            </a:r>
            <a:r>
              <a:rPr lang="en-US" sz="1500">
                <a:solidFill>
                  <a:srgbClr val="0F172A"/>
                </a:solidFill>
                <a:latin typeface="Aptos"/>
                <a:ea typeface="Aptos" pitchFamily="34" charset="-122"/>
                <a:cs typeface="Aptos" pitchFamily="34" charset="-120"/>
              </a:rPr>
              <a:t>des informations utilisateur</a:t>
            </a:r>
          </a:p>
          <a:p>
            <a:pPr marL="202565" indent="-202565">
              <a:buSzPct val="100000"/>
              <a:buFont typeface="Arial"/>
              <a:buChar char="•"/>
            </a:pPr>
            <a:endParaRPr lang="en-US" sz="1500">
              <a:solidFill>
                <a:srgbClr val="0F172A"/>
              </a:solidFill>
              <a:latin typeface="Aptos"/>
            </a:endParaRPr>
          </a:p>
          <a:p>
            <a:pPr marL="202565" indent="-202565">
              <a:buFont typeface="Arial"/>
              <a:buChar char="•"/>
            </a:pPr>
            <a:r>
              <a:rPr lang="en-US" sz="1500">
                <a:solidFill>
                  <a:srgbClr val="0F172A"/>
                </a:solidFill>
                <a:latin typeface="Aptos"/>
              </a:rPr>
              <a:t>paramètres du compte</a:t>
            </a:r>
          </a:p>
          <a:p>
            <a:pPr marL="202565" indent="-202565">
              <a:buFont typeface="Arial"/>
              <a:buChar char="•"/>
            </a:pPr>
            <a:endParaRPr lang="en-US" sz="1500">
              <a:solidFill>
                <a:srgbClr val="0F172A"/>
              </a:solidFill>
              <a:latin typeface="Aptos"/>
            </a:endParaRPr>
          </a:p>
          <a:p>
            <a:pPr marL="202565" indent="-202565">
              <a:buFont typeface="Arial"/>
              <a:buChar char="•"/>
            </a:pPr>
            <a:r>
              <a:rPr lang="en-US" sz="1500">
                <a:solidFill>
                  <a:srgbClr val="0F172A"/>
                </a:solidFill>
                <a:latin typeface="Aptos"/>
              </a:rPr>
              <a:t>complète l’expérience globale du site</a:t>
            </a:r>
            <a:endParaRPr lang="en-US"/>
          </a:p>
          <a:p>
            <a:pPr marL="202565" indent="-202565">
              <a:buSzPct val="100000"/>
              <a:buFont typeface="Arial"/>
              <a:buChar char="•"/>
            </a:pPr>
            <a:endParaRPr lang="en-US" sz="1500">
              <a:solidFill>
                <a:srgbClr val="0F172A"/>
              </a:solidFill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37949BA-00D3-8651-883F-41812C7CE7DF}"/>
              </a:ext>
            </a:extLst>
          </p:cNvPr>
          <p:cNvSpPr/>
          <p:nvPr/>
        </p:nvSpPr>
        <p:spPr>
          <a:xfrm>
            <a:off x="11521440" y="655624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6</a:t>
            </a:r>
            <a:endParaRPr lang="en-US" sz="900"/>
          </a:p>
        </p:txBody>
      </p:sp>
      <p:pic>
        <p:nvPicPr>
          <p:cNvPr id="10" name="Image 9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6A128F93-4E5A-9CC2-94E5-9214D005A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461" y="2126511"/>
            <a:ext cx="6346799" cy="3588489"/>
          </a:xfrm>
          <a:prstGeom prst="rect">
            <a:avLst/>
          </a:prstGeom>
        </p:spPr>
      </p:pic>
      <p:sp>
        <p:nvSpPr>
          <p:cNvPr id="16" name="Shape 12">
            <a:extLst>
              <a:ext uri="{FF2B5EF4-FFF2-40B4-BE49-F238E27FC236}">
                <a16:creationId xmlns:a16="http://schemas.microsoft.com/office/drawing/2014/main" id="{09815432-94FF-876A-1487-FDEA8182E800}"/>
              </a:ext>
            </a:extLst>
          </p:cNvPr>
          <p:cNvSpPr/>
          <p:nvPr/>
        </p:nvSpPr>
        <p:spPr>
          <a:xfrm>
            <a:off x="4453622" y="2123462"/>
            <a:ext cx="6351536" cy="3592741"/>
          </a:xfrm>
          <a:prstGeom prst="flowChartProcess">
            <a:avLst/>
          </a:prstGeom>
          <a:solidFill>
            <a:srgbClr val="FFFFFF">
              <a:alpha val="0"/>
            </a:srgbClr>
          </a:solidFill>
          <a:ln w="19050">
            <a:solidFill>
              <a:srgbClr val="14B8A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100017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AD5C01-AA80-26C3-1703-9568DFBB6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10413D-AAC6-DB34-FCEE-BD3AEC011A15}"/>
              </a:ext>
            </a:extLst>
          </p:cNvPr>
          <p:cNvSpPr/>
          <p:nvPr/>
        </p:nvSpPr>
        <p:spPr>
          <a:xfrm>
            <a:off x="100988" y="-110169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356DD87-611B-ED8C-4DC4-1A656CA8C23B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7B506D1-F297-25D7-4C38-E792D80DE1DE}"/>
              </a:ext>
            </a:extLst>
          </p:cNvPr>
          <p:cNvSpPr/>
          <p:nvPr/>
        </p:nvSpPr>
        <p:spPr>
          <a:xfrm>
            <a:off x="10561320" y="292608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17314E"/>
          </a:solidFill>
          <a:ln w="12700">
            <a:solidFill>
              <a:srgbClr val="17314E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565B086-CF6C-2393-2167-C6EF077C6F90}"/>
              </a:ext>
            </a:extLst>
          </p:cNvPr>
          <p:cNvSpPr/>
          <p:nvPr/>
        </p:nvSpPr>
        <p:spPr>
          <a:xfrm>
            <a:off x="10689336" y="3657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QUANTIS</a:t>
            </a:r>
            <a:endParaRPr lang="en-US" sz="10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25799C1-90F6-05C9-F244-721FDFB9BC93}"/>
              </a:ext>
            </a:extLst>
          </p:cNvPr>
          <p:cNvSpPr/>
          <p:nvPr/>
        </p:nvSpPr>
        <p:spPr>
          <a:xfrm>
            <a:off x="3348192" y="2542953"/>
            <a:ext cx="5660774" cy="859677"/>
          </a:xfrm>
          <a:prstGeom prst="roundRect">
            <a:avLst>
              <a:gd name="adj" fmla="val 25000"/>
            </a:avLst>
          </a:prstGeom>
          <a:solidFill>
            <a:srgbClr val="14324C"/>
          </a:solidFill>
          <a:ln w="12700">
            <a:solidFill>
              <a:srgbClr val="14324C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79AC444-E95F-DC18-3AC2-834A1C691E85}"/>
              </a:ext>
            </a:extLst>
          </p:cNvPr>
          <p:cNvSpPr/>
          <p:nvPr/>
        </p:nvSpPr>
        <p:spPr>
          <a:xfrm>
            <a:off x="5227745" y="2908217"/>
            <a:ext cx="1892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PARTIE 3</a:t>
            </a:r>
            <a:endParaRPr lang="en-US" sz="3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C6430F8-C93A-4E3C-1B46-B87F40464BCB}"/>
              </a:ext>
            </a:extLst>
          </p:cNvPr>
          <p:cNvSpPr/>
          <p:nvPr/>
        </p:nvSpPr>
        <p:spPr>
          <a:xfrm>
            <a:off x="2603914" y="3407778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Aptos Display"/>
              </a:rPr>
              <a:t>Architecture et choix techniques</a:t>
            </a:r>
            <a:endParaRPr lang="fr-FR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03944C9-D990-1082-5CC5-01DA54EF17E4}"/>
              </a:ext>
            </a:extLst>
          </p:cNvPr>
          <p:cNvSpPr/>
          <p:nvPr/>
        </p:nvSpPr>
        <p:spPr>
          <a:xfrm>
            <a:off x="11521440" y="655624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2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405556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Choix techniques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658368" y="99669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Expliquer pourquoi chaque technologie a été utilisée.</a:t>
            </a:r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1234440" cy="0"/>
          </a:xfrm>
          <a:prstGeom prst="line">
            <a:avLst/>
          </a:prstGeom>
          <a:noFill/>
          <a:ln w="2032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0" y="237744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6FFFB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89336" y="31089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QUANTIS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822960" y="173736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24128" y="20116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E7490"/>
                </a:solidFill>
              </a:rPr>
              <a:t>HTML / CSS / JS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1115568" y="23774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475569"/>
                </a:solidFill>
              </a:rPr>
              <a:t>interface du site</a:t>
            </a:r>
            <a:endParaRPr lang="en-US" sz="1250"/>
          </a:p>
          <a:p>
            <a:pPr marL="0" indent="0" algn="ctr">
              <a:buNone/>
            </a:pPr>
            <a:r>
              <a:rPr lang="en-US" sz="1250">
                <a:solidFill>
                  <a:srgbClr val="475569"/>
                </a:solidFill>
              </a:rPr>
              <a:t>et interactions côté client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4572000" y="173736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73168" y="20116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172A"/>
                </a:solidFill>
              </a:rPr>
              <a:t>Rust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4864608" y="23774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475569"/>
                </a:solidFill>
              </a:rPr>
              <a:t>API robuste</a:t>
            </a:r>
            <a:endParaRPr lang="en-US" sz="1250"/>
          </a:p>
          <a:p>
            <a:pPr marL="0" indent="0" algn="ctr">
              <a:buNone/>
            </a:pPr>
            <a:r>
              <a:rPr lang="en-US" sz="1250">
                <a:solidFill>
                  <a:srgbClr val="475569"/>
                </a:solidFill>
              </a:rPr>
              <a:t>et performante</a:t>
            </a:r>
            <a:endParaRPr lang="en-US" sz="1250"/>
          </a:p>
        </p:txBody>
      </p:sp>
      <p:sp>
        <p:nvSpPr>
          <p:cNvPr id="15" name="Shape 13"/>
          <p:cNvSpPr/>
          <p:nvPr/>
        </p:nvSpPr>
        <p:spPr>
          <a:xfrm>
            <a:off x="8321040" y="173736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ECFCCB"/>
          </a:solidFill>
          <a:ln w="12700">
            <a:solidFill>
              <a:srgbClr val="D9F99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22208" y="20116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4D7C0F"/>
                </a:solidFill>
              </a:rPr>
              <a:t>PostgreSQL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8613648" y="23774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475569"/>
                </a:solidFill>
              </a:rPr>
              <a:t>stockage structuré</a:t>
            </a:r>
            <a:endParaRPr lang="en-US" sz="1250"/>
          </a:p>
          <a:p>
            <a:pPr marL="0" indent="0" algn="ctr">
              <a:buNone/>
            </a:pPr>
            <a:r>
              <a:rPr lang="en-US" sz="1250">
                <a:solidFill>
                  <a:srgbClr val="475569"/>
                </a:solidFill>
              </a:rPr>
              <a:t>des données</a:t>
            </a:r>
            <a:endParaRPr lang="en-US" sz="1250"/>
          </a:p>
        </p:txBody>
      </p:sp>
      <p:sp>
        <p:nvSpPr>
          <p:cNvPr id="18" name="Shape 16"/>
          <p:cNvSpPr/>
          <p:nvPr/>
        </p:nvSpPr>
        <p:spPr>
          <a:xfrm>
            <a:off x="822960" y="374904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24128" y="40233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92400E"/>
                </a:solidFill>
              </a:rPr>
              <a:t>Docker Compose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1115568" y="4389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475569"/>
                </a:solidFill>
              </a:rPr>
              <a:t>même environnement</a:t>
            </a:r>
            <a:endParaRPr lang="en-US" sz="1250"/>
          </a:p>
          <a:p>
            <a:pPr marL="0" indent="0" algn="ctr">
              <a:buNone/>
            </a:pPr>
            <a:r>
              <a:rPr lang="en-US" sz="1250">
                <a:solidFill>
                  <a:srgbClr val="475569"/>
                </a:solidFill>
              </a:rPr>
              <a:t>pour toute l’équipe</a:t>
            </a:r>
            <a:endParaRPr lang="en-US" sz="1250"/>
          </a:p>
        </p:txBody>
      </p:sp>
      <p:sp>
        <p:nvSpPr>
          <p:cNvPr id="21" name="Shape 19"/>
          <p:cNvSpPr/>
          <p:nvPr/>
        </p:nvSpPr>
        <p:spPr>
          <a:xfrm>
            <a:off x="4572000" y="374904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73168" y="40233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766E"/>
                </a:solidFill>
              </a:rPr>
              <a:t>Nginx</a:t>
            </a:r>
            <a:endParaRPr lang="en-US" sz="1800"/>
          </a:p>
        </p:txBody>
      </p:sp>
      <p:sp>
        <p:nvSpPr>
          <p:cNvPr id="23" name="Text 21"/>
          <p:cNvSpPr/>
          <p:nvPr/>
        </p:nvSpPr>
        <p:spPr>
          <a:xfrm>
            <a:off x="4864608" y="4389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475569"/>
                </a:solidFill>
              </a:rPr>
              <a:t>service du front</a:t>
            </a:r>
            <a:endParaRPr lang="en-US" sz="1250"/>
          </a:p>
          <a:p>
            <a:pPr marL="0" indent="0" algn="ctr">
              <a:buNone/>
            </a:pPr>
            <a:r>
              <a:rPr lang="en-US" sz="1250">
                <a:solidFill>
                  <a:srgbClr val="475569"/>
                </a:solidFill>
              </a:rPr>
              <a:t>et routage web</a:t>
            </a:r>
            <a:endParaRPr lang="en-US" sz="1250"/>
          </a:p>
        </p:txBody>
      </p:sp>
      <p:sp>
        <p:nvSpPr>
          <p:cNvPr id="24" name="Shape 22"/>
          <p:cNvSpPr/>
          <p:nvPr/>
        </p:nvSpPr>
        <p:spPr>
          <a:xfrm>
            <a:off x="8321040" y="374904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22208" y="40233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6D28D9"/>
                </a:solidFill>
              </a:rPr>
              <a:t>GitHub</a:t>
            </a:r>
            <a:endParaRPr lang="en-US" sz="1800"/>
          </a:p>
        </p:txBody>
      </p:sp>
      <p:sp>
        <p:nvSpPr>
          <p:cNvPr id="26" name="Text 24"/>
          <p:cNvSpPr/>
          <p:nvPr/>
        </p:nvSpPr>
        <p:spPr>
          <a:xfrm>
            <a:off x="8613648" y="4389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475569"/>
                </a:solidFill>
              </a:rPr>
              <a:t>travail en binôme</a:t>
            </a:r>
            <a:endParaRPr lang="en-US" sz="1250"/>
          </a:p>
          <a:p>
            <a:pPr marL="0" indent="0" algn="ctr">
              <a:buNone/>
            </a:pPr>
            <a:r>
              <a:rPr lang="en-US" sz="1250">
                <a:solidFill>
                  <a:srgbClr val="475569"/>
                </a:solidFill>
              </a:rPr>
              <a:t>et versionnement</a:t>
            </a:r>
            <a:endParaRPr lang="en-US" sz="1250"/>
          </a:p>
        </p:txBody>
      </p:sp>
      <p:sp>
        <p:nvSpPr>
          <p:cNvPr id="27" name="Text 25"/>
          <p:cNvSpPr/>
          <p:nvPr/>
        </p:nvSpPr>
        <p:spPr>
          <a:xfrm>
            <a:off x="11521440" y="655624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11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générale du projet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658368" y="99669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navigateur jusqu’à la base de données.</a:t>
            </a:r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1234440" cy="0"/>
          </a:xfrm>
          <a:prstGeom prst="line">
            <a:avLst/>
          </a:prstGeom>
          <a:noFill/>
          <a:ln w="2032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0" y="237744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6FFFB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89336" y="31089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QUANTIS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10972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74320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24128" y="299923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E7490"/>
                </a:solidFill>
              </a:rPr>
              <a:t>Utilisateur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1024128" y="3273552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475569"/>
                </a:solidFill>
              </a:rPr>
              <a:t>navigateur web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3246120" y="274320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55848" y="2999232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766E"/>
                </a:solidFill>
              </a:rPr>
              <a:t>Front-end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3355848" y="3273552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475569"/>
                </a:solidFill>
              </a:rPr>
              <a:t>HTML / CSS / JS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5852160" y="274320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61888" y="299923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172A"/>
                </a:solidFill>
              </a:rPr>
              <a:t>API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5961888" y="3273552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475569"/>
                </a:solidFill>
              </a:rPr>
              <a:t>Rust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8183880" y="274320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ECFCCB"/>
          </a:solidFill>
          <a:ln w="12700">
            <a:solidFill>
              <a:srgbClr val="D9F99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93608" y="2999232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4D7C0F"/>
                </a:solidFill>
              </a:rPr>
              <a:t>Base de données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8293608" y="3273552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475569"/>
                </a:solidFill>
              </a:rPr>
              <a:t>PostgreSQL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2761488" y="3108960"/>
            <a:ext cx="411480" cy="219456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67528" y="3108960"/>
            <a:ext cx="411480" cy="219456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08392" y="3108960"/>
            <a:ext cx="411480" cy="219456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178308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196596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>
                <a:solidFill>
                  <a:srgbClr val="0E7490"/>
                </a:solidFill>
              </a:rPr>
              <a:t>Servi par Nginx</a:t>
            </a:r>
            <a:endParaRPr lang="en-US" sz="1080"/>
          </a:p>
        </p:txBody>
      </p:sp>
      <p:sp>
        <p:nvSpPr>
          <p:cNvPr id="27" name="Shape 25"/>
          <p:cNvSpPr/>
          <p:nvPr/>
        </p:nvSpPr>
        <p:spPr>
          <a:xfrm>
            <a:off x="6053328" y="178308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196596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>
                <a:solidFill>
                  <a:srgbClr val="92400E"/>
                </a:solidFill>
              </a:rPr>
              <a:t>Mailpit en dev</a:t>
            </a:r>
            <a:endParaRPr lang="en-US" sz="1080"/>
          </a:p>
        </p:txBody>
      </p:sp>
      <p:sp>
        <p:nvSpPr>
          <p:cNvPr id="29" name="Shape 27"/>
          <p:cNvSpPr/>
          <p:nvPr/>
        </p:nvSpPr>
        <p:spPr>
          <a:xfrm>
            <a:off x="1005840" y="4892040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508406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475569"/>
                </a:solidFill>
              </a:rPr>
              <a:t>web</a:t>
            </a:r>
            <a:endParaRPr lang="en-US" sz="1100"/>
          </a:p>
        </p:txBody>
      </p:sp>
      <p:sp>
        <p:nvSpPr>
          <p:cNvPr id="31" name="Shape 29"/>
          <p:cNvSpPr/>
          <p:nvPr/>
        </p:nvSpPr>
        <p:spPr>
          <a:xfrm>
            <a:off x="3017520" y="4892040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508406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475569"/>
                </a:solidFill>
              </a:rPr>
              <a:t>src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5029200" y="4892040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508406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475569"/>
                </a:solidFill>
              </a:rPr>
              <a:t>migrations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7040880" y="4892040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508406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475569"/>
                </a:solidFill>
              </a:rPr>
              <a:t>nginx</a:t>
            </a:r>
            <a:endParaRPr lang="en-US" sz="1100"/>
          </a:p>
        </p:txBody>
      </p:sp>
      <p:sp>
        <p:nvSpPr>
          <p:cNvPr id="37" name="Shape 35"/>
          <p:cNvSpPr/>
          <p:nvPr/>
        </p:nvSpPr>
        <p:spPr>
          <a:xfrm>
            <a:off x="9052560" y="4892040"/>
            <a:ext cx="15544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0" y="508406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475569"/>
                </a:solidFill>
              </a:rPr>
              <a:t>docker-compose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11521440" y="655624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10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et base de données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658368" y="99669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Logique du back-end.</a:t>
            </a:r>
            <a:endParaRPr lang="en-US" sz="1050">
              <a:latin typeface="Apto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1234440" cy="0"/>
          </a:xfrm>
          <a:prstGeom prst="line">
            <a:avLst/>
          </a:prstGeom>
          <a:noFill/>
          <a:ln w="2032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0" y="237744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6FFFB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89336" y="31089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QUANTIS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27648" y="1591056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04122" y="1872535"/>
            <a:ext cx="1547746" cy="460956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91" y="2042869"/>
            <a:ext cx="9784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E7490"/>
                </a:solidFill>
              </a:rPr>
              <a:t>API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905540" y="266359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172A"/>
                </a:solidFill>
              </a:rPr>
              <a:t>Rôle de l’API :</a:t>
            </a:r>
            <a:endParaRPr lang="en-US" sz="1700"/>
          </a:p>
        </p:txBody>
      </p:sp>
      <p:sp>
        <p:nvSpPr>
          <p:cNvPr id="14" name="Text 12"/>
          <p:cNvSpPr/>
          <p:nvPr/>
        </p:nvSpPr>
        <p:spPr>
          <a:xfrm>
            <a:off x="914967" y="3072242"/>
            <a:ext cx="452628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2565" indent="-202565">
              <a:buSzPct val="100000"/>
              <a:buChar char="•"/>
            </a:pPr>
            <a:r>
              <a:rPr lang="en-US" sz="145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recevoir les requêtes du front</a:t>
            </a:r>
            <a:endParaRPr lang="en-US" sz="1450"/>
          </a:p>
          <a:p>
            <a:pPr marL="202565" indent="-202565">
              <a:buSzPct val="100000"/>
              <a:buChar char="•"/>
            </a:pPr>
            <a:endParaRPr lang="en-US" sz="1450" dirty="0">
              <a:solidFill>
                <a:srgbClr val="0F172A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202565" indent="-202565">
              <a:buSzPct val="100000"/>
              <a:buChar char="•"/>
            </a:pPr>
            <a:r>
              <a:rPr lang="en-US" sz="145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 les données</a:t>
            </a:r>
            <a:endParaRPr lang="en-US" sz="1450"/>
          </a:p>
          <a:p>
            <a:pPr marL="202565" indent="-202565">
              <a:buSzPct val="100000"/>
              <a:buChar char="•"/>
            </a:pPr>
            <a:endParaRPr lang="en-US" sz="1450" dirty="0">
              <a:solidFill>
                <a:srgbClr val="0F172A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202565" indent="-202565">
              <a:buSzPct val="100000"/>
              <a:buChar char="•"/>
            </a:pPr>
            <a:r>
              <a:rPr lang="en-US" sz="145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dialoguer avec la base</a:t>
            </a:r>
            <a:endParaRPr lang="en-US" sz="1450"/>
          </a:p>
          <a:p>
            <a:pPr marL="202565" indent="-202565">
              <a:buSzPct val="100000"/>
              <a:buChar char="•"/>
            </a:pPr>
            <a:endParaRPr lang="en-US" sz="1450" dirty="0">
              <a:solidFill>
                <a:srgbClr val="0F172A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202565" indent="-202565">
              <a:buSzPct val="100000"/>
              <a:buChar char="•"/>
            </a:pPr>
            <a:r>
              <a:rPr lang="en-US" sz="145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renvoyer une réponse exploitable</a:t>
            </a:r>
            <a:endParaRPr lang="en-US" sz="1450"/>
          </a:p>
          <a:p>
            <a:pPr marL="202565" indent="-202565">
              <a:buSzPct val="100000"/>
              <a:buChar char="•"/>
            </a:pPr>
            <a:endParaRPr lang="en-US" sz="1450" dirty="0">
              <a:solidFill>
                <a:srgbClr val="0F172A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202565" indent="-202565">
              <a:buSzPct val="100000"/>
              <a:buChar char="•"/>
            </a:pPr>
            <a:r>
              <a:rPr lang="en-US" sz="145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gérer l’authentification et la sécurité</a:t>
            </a:r>
            <a:endParaRPr lang="en-US" sz="1450"/>
          </a:p>
        </p:txBody>
      </p:sp>
      <p:sp>
        <p:nvSpPr>
          <p:cNvPr id="17" name="Shape 15"/>
          <p:cNvSpPr/>
          <p:nvPr/>
        </p:nvSpPr>
        <p:spPr>
          <a:xfrm>
            <a:off x="6573402" y="1845954"/>
            <a:ext cx="2147777" cy="522980"/>
          </a:xfrm>
          <a:prstGeom prst="roundRect">
            <a:avLst>
              <a:gd name="adj" fmla="val 25000"/>
            </a:avLst>
          </a:prstGeom>
          <a:solidFill>
            <a:srgbClr val="E6FFFB"/>
          </a:solidFill>
          <a:ln w="12700">
            <a:solidFill>
              <a:srgbClr val="E6FF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9466" y="2042869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766E"/>
                </a:solidFill>
              </a:rPr>
              <a:t>Base de données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7017843" y="2913321"/>
            <a:ext cx="1847088" cy="438912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64147" y="3059625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>
                <a:solidFill>
                  <a:srgbClr val="475569"/>
                </a:solidFill>
              </a:rPr>
              <a:t>users</a:t>
            </a:r>
            <a:endParaRPr lang="en-US" sz="1080"/>
          </a:p>
        </p:txBody>
      </p:sp>
      <p:sp>
        <p:nvSpPr>
          <p:cNvPr id="22" name="Shape 20"/>
          <p:cNvSpPr/>
          <p:nvPr/>
        </p:nvSpPr>
        <p:spPr>
          <a:xfrm>
            <a:off x="9166683" y="2913321"/>
            <a:ext cx="1847088" cy="438912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12987" y="3059625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>
                <a:solidFill>
                  <a:srgbClr val="475569"/>
                </a:solidFill>
              </a:rPr>
              <a:t>places</a:t>
            </a:r>
            <a:endParaRPr lang="en-US" sz="1080"/>
          </a:p>
        </p:txBody>
      </p:sp>
      <p:sp>
        <p:nvSpPr>
          <p:cNvPr id="24" name="Shape 22"/>
          <p:cNvSpPr/>
          <p:nvPr/>
        </p:nvSpPr>
        <p:spPr>
          <a:xfrm>
            <a:off x="7017843" y="3571689"/>
            <a:ext cx="1847088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64147" y="3717993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>
                <a:solidFill>
                  <a:srgbClr val="475569"/>
                </a:solidFill>
              </a:rPr>
              <a:t>consumptions</a:t>
            </a:r>
            <a:endParaRPr lang="en-US" sz="1080"/>
          </a:p>
        </p:txBody>
      </p:sp>
      <p:sp>
        <p:nvSpPr>
          <p:cNvPr id="26" name="Shape 24"/>
          <p:cNvSpPr/>
          <p:nvPr/>
        </p:nvSpPr>
        <p:spPr>
          <a:xfrm>
            <a:off x="9166683" y="3571689"/>
            <a:ext cx="1847088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12987" y="3717993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>
                <a:solidFill>
                  <a:srgbClr val="475569"/>
                </a:solidFill>
              </a:rPr>
              <a:t>energy_type</a:t>
            </a:r>
            <a:endParaRPr lang="en-US" sz="1080"/>
          </a:p>
        </p:txBody>
      </p:sp>
      <p:sp>
        <p:nvSpPr>
          <p:cNvPr id="28" name="Shape 26"/>
          <p:cNvSpPr/>
          <p:nvPr/>
        </p:nvSpPr>
        <p:spPr>
          <a:xfrm>
            <a:off x="7017843" y="4230057"/>
            <a:ext cx="1847088" cy="438912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64147" y="4376361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>
                <a:solidFill>
                  <a:srgbClr val="475569"/>
                </a:solidFill>
              </a:rPr>
              <a:t>place_goals</a:t>
            </a:r>
            <a:endParaRPr lang="en-US" sz="1080"/>
          </a:p>
        </p:txBody>
      </p:sp>
      <p:sp>
        <p:nvSpPr>
          <p:cNvPr id="30" name="Shape 28"/>
          <p:cNvSpPr/>
          <p:nvPr/>
        </p:nvSpPr>
        <p:spPr>
          <a:xfrm>
            <a:off x="9166683" y="4230057"/>
            <a:ext cx="1847088" cy="438912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12987" y="4376361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>
                <a:solidFill>
                  <a:srgbClr val="475569"/>
                </a:solidFill>
              </a:rPr>
              <a:t>alert_dispatches</a:t>
            </a:r>
            <a:endParaRPr lang="en-US" sz="1080"/>
          </a:p>
        </p:txBody>
      </p:sp>
      <p:sp>
        <p:nvSpPr>
          <p:cNvPr id="32" name="Shape 30"/>
          <p:cNvSpPr/>
          <p:nvPr/>
        </p:nvSpPr>
        <p:spPr>
          <a:xfrm>
            <a:off x="7017843" y="4888425"/>
            <a:ext cx="1847088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64147" y="5034729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>
                <a:solidFill>
                  <a:srgbClr val="475569"/>
                </a:solidFill>
              </a:rPr>
              <a:t>password_reset_tokens</a:t>
            </a:r>
            <a:endParaRPr lang="en-US" sz="1080"/>
          </a:p>
        </p:txBody>
      </p:sp>
      <p:sp>
        <p:nvSpPr>
          <p:cNvPr id="35" name="Text 33"/>
          <p:cNvSpPr/>
          <p:nvPr/>
        </p:nvSpPr>
        <p:spPr>
          <a:xfrm>
            <a:off x="11521440" y="655624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12</a:t>
            </a:r>
            <a:endParaRPr lang="en-US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Tests, patchs et bilan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658368" y="99669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Terminer par la validation du projet et les pistes d’amélioration.</a:t>
            </a:r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1234440" cy="0"/>
          </a:xfrm>
          <a:prstGeom prst="line">
            <a:avLst/>
          </a:prstGeom>
          <a:noFill/>
          <a:ln w="2032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0" y="237744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6FFFB"/>
          </a:solidFill>
          <a:ln w="12700">
            <a:solidFill>
              <a:srgbClr val="B2F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89336" y="31089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QUANTIS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51663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9048" y="1591056"/>
            <a:ext cx="542239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1810512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1874520"/>
            <a:ext cx="1161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0E7490"/>
                </a:solidFill>
              </a:rPr>
              <a:t>Tests</a:t>
            </a:r>
            <a:endParaRPr lang="en-US" sz="950"/>
          </a:p>
        </p:txBody>
      </p:sp>
      <p:sp>
        <p:nvSpPr>
          <p:cNvPr id="13" name="Text 11"/>
          <p:cNvSpPr/>
          <p:nvPr/>
        </p:nvSpPr>
        <p:spPr>
          <a:xfrm>
            <a:off x="904972" y="2212848"/>
            <a:ext cx="1827384" cy="197375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2565" indent="-202565">
              <a:buSzPct val="100000"/>
              <a:buChar char="•"/>
            </a:pPr>
            <a:r>
              <a:rPr lang="en-US" sz="145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vérification des formulaires</a:t>
            </a:r>
            <a:endParaRPr lang="en-US" sz="1450"/>
          </a:p>
          <a:p>
            <a:pPr marL="202565" indent="-202565">
              <a:buSzPct val="100000"/>
              <a:buChar char="•"/>
            </a:pPr>
            <a:endParaRPr lang="en-US" sz="1450" dirty="0">
              <a:solidFill>
                <a:srgbClr val="0F172A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202565" indent="-202565">
              <a:buSzPct val="100000"/>
              <a:buChar char="•"/>
            </a:pPr>
            <a:r>
              <a:rPr lang="en-US" sz="145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de connexion front / back</a:t>
            </a:r>
            <a:endParaRPr lang="en-US" sz="1450"/>
          </a:p>
          <a:p>
            <a:pPr marL="202565" indent="-202565">
              <a:buSzPct val="100000"/>
              <a:buChar char="•"/>
            </a:pPr>
            <a:endParaRPr lang="en-US" sz="1450" dirty="0">
              <a:solidFill>
                <a:srgbClr val="0F172A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202565" indent="-202565">
              <a:buSzPct val="100000"/>
              <a:buChar char="•"/>
            </a:pPr>
            <a:r>
              <a:rPr lang="en-US" sz="145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 des erreurs</a:t>
            </a:r>
            <a:endParaRPr lang="en-US" sz="1450"/>
          </a:p>
          <a:p>
            <a:pPr marL="202565" indent="-202565">
              <a:buSzPct val="100000"/>
              <a:buChar char="•"/>
            </a:pPr>
            <a:endParaRPr lang="en-US" sz="1450" dirty="0">
              <a:solidFill>
                <a:srgbClr val="0F172A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202565" indent="-202565">
              <a:buSzPct val="100000"/>
              <a:buChar char="•"/>
            </a:pPr>
            <a:r>
              <a:rPr lang="en-US" sz="145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 de correctifs à appliquer</a:t>
            </a:r>
            <a:endParaRPr lang="en-US" sz="1450"/>
          </a:p>
        </p:txBody>
      </p:sp>
      <p:sp>
        <p:nvSpPr>
          <p:cNvPr id="19" name="Shape 17"/>
          <p:cNvSpPr/>
          <p:nvPr/>
        </p:nvSpPr>
        <p:spPr>
          <a:xfrm>
            <a:off x="6309360" y="1810512"/>
            <a:ext cx="1115568" cy="292608"/>
          </a:xfrm>
          <a:prstGeom prst="roundRect">
            <a:avLst>
              <a:gd name="adj" fmla="val 25000"/>
            </a:avLst>
          </a:prstGeom>
          <a:solidFill>
            <a:srgbClr val="E6FFFB"/>
          </a:solidFill>
          <a:ln w="12700">
            <a:solidFill>
              <a:srgbClr val="E6FF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1874520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0F766E"/>
                </a:solidFill>
              </a:rPr>
              <a:t>Bilan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6345936" y="2212848"/>
            <a:ext cx="320040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2565" indent="-202565">
              <a:buSzPct val="100000"/>
              <a:buChar char="•"/>
            </a:pPr>
            <a:r>
              <a:rPr lang="en-US" sz="145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full-stack réalisé en binôme</a:t>
            </a:r>
            <a:endParaRPr lang="en-US" sz="1450"/>
          </a:p>
          <a:p>
            <a:pPr marL="202565" indent="-202565">
              <a:buSzPct val="100000"/>
              <a:buChar char="•"/>
            </a:pPr>
            <a:endParaRPr lang="en-US" sz="1450" dirty="0">
              <a:solidFill>
                <a:srgbClr val="0F172A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202565" indent="-202565">
              <a:buSzPct val="100000"/>
              <a:buChar char="•"/>
            </a:pPr>
            <a:r>
              <a:rPr lang="en-US" sz="145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bonne répartition du travail</a:t>
            </a:r>
            <a:endParaRPr lang="en-US" sz="1450"/>
          </a:p>
          <a:p>
            <a:pPr marL="202565" indent="-202565">
              <a:buSzPct val="100000"/>
              <a:buChar char="•"/>
            </a:pPr>
            <a:endParaRPr lang="en-US" sz="1450" dirty="0">
              <a:solidFill>
                <a:srgbClr val="0F172A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202565" indent="-202565">
              <a:buSzPct val="100000"/>
              <a:buChar char="•"/>
            </a:pPr>
            <a:r>
              <a:rPr lang="en-US" sz="145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claire et modulaire</a:t>
            </a:r>
            <a:endParaRPr lang="en-US" sz="1450"/>
          </a:p>
          <a:p>
            <a:pPr marL="202565" indent="-202565">
              <a:buSzPct val="100000"/>
              <a:buChar char="•"/>
            </a:pPr>
            <a:endParaRPr lang="en-US" sz="1450" dirty="0">
              <a:solidFill>
                <a:srgbClr val="0F172A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 marL="202565" indent="-202565">
              <a:buSzPct val="100000"/>
              <a:buChar char="•"/>
            </a:pPr>
            <a:r>
              <a:rPr lang="en-US" sz="145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solide pour des évolutions futures</a:t>
            </a:r>
            <a:endParaRPr lang="en-US" sz="1450"/>
          </a:p>
        </p:txBody>
      </p:sp>
      <p:sp>
        <p:nvSpPr>
          <p:cNvPr id="22" name="Shape 20"/>
          <p:cNvSpPr/>
          <p:nvPr/>
        </p:nvSpPr>
        <p:spPr>
          <a:xfrm>
            <a:off x="9418320" y="2084832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18320" y="329184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418320" y="4498848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ECFCCB"/>
          </a:solidFill>
          <a:ln w="12700">
            <a:solidFill>
              <a:srgbClr val="D9F99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582912" y="245973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</a:rPr>
              <a:t>Graphiques +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9582912" y="366674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</a:rPr>
              <a:t>Alertes +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9582912" y="487375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</a:rPr>
              <a:t>Version mobile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6355080" y="5090869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F172A"/>
                </a:solidFill>
              </a:rPr>
              <a:t>Merci pour votre attention</a:t>
            </a:r>
            <a:endParaRPr lang="en-US" sz="2000"/>
          </a:p>
        </p:txBody>
      </p:sp>
      <p:sp>
        <p:nvSpPr>
          <p:cNvPr id="29" name="Text 27"/>
          <p:cNvSpPr/>
          <p:nvPr/>
        </p:nvSpPr>
        <p:spPr>
          <a:xfrm>
            <a:off x="6355080" y="5577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4B8A6"/>
                </a:solidFill>
              </a:rPr>
              <a:t>Questions ?</a:t>
            </a:r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11521440" y="655624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13</a:t>
            </a:r>
            <a:endParaRPr lang="en-US" sz="900"/>
          </a:p>
        </p:txBody>
      </p:sp>
      <p:pic>
        <p:nvPicPr>
          <p:cNvPr id="32" name="Image 31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7F37E2B5-1ECD-1B58-66D1-013D7D244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484" y="1710070"/>
            <a:ext cx="2073149" cy="4306187"/>
          </a:xfrm>
          <a:prstGeom prst="rect">
            <a:avLst/>
          </a:prstGeom>
        </p:spPr>
      </p:pic>
      <p:sp>
        <p:nvSpPr>
          <p:cNvPr id="14" name="Shape 12"/>
          <p:cNvSpPr/>
          <p:nvPr/>
        </p:nvSpPr>
        <p:spPr>
          <a:xfrm>
            <a:off x="3305450" y="1717017"/>
            <a:ext cx="2068033" cy="4299805"/>
          </a:xfrm>
          <a:prstGeom prst="flowChartProcess">
            <a:avLst/>
          </a:prstGeom>
          <a:solidFill>
            <a:srgbClr val="FFFFFF">
              <a:alpha val="0"/>
            </a:srgbClr>
          </a:solidFill>
          <a:ln w="19050">
            <a:solidFill>
              <a:srgbClr val="14B8A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18</Slides>
  <Notes>18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Quantis – Présentation du projet</dc:title>
  <dc:subject>Présentation Quantis</dc:subject>
  <dc:creator>OpenAI</dc:creator>
  <cp:revision>235</cp:revision>
  <dcterms:created xsi:type="dcterms:W3CDTF">2026-03-18T17:22:59Z</dcterms:created>
  <dcterms:modified xsi:type="dcterms:W3CDTF">2026-03-18T20:20:56Z</dcterms:modified>
</cp:coreProperties>
</file>